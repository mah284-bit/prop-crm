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5486400" cy="5486400"/>
          </a:xfrm>
          <a:prstGeom prst="ellipse">
            <a:avLst/>
          </a:prstGeom>
          <a:solidFill>
            <a:srgbClr val="C9A84C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3657600" cy="3657600"/>
          </a:xfrm>
          <a:prstGeom prst="ellipse">
            <a:avLst/>
          </a:prstGeom>
          <a:solidFill>
            <a:srgbClr val="C9A84C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731520" cy="32004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4572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5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BFC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PropPlatform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system for the UAE property industry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54864" cy="10972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937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AI-NATIVE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3492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AI for every workflow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4937760"/>
            <a:ext cx="54864" cy="10972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4937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UAE-SPECIFIC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53492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realities of this market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4937760"/>
            <a:ext cx="54864" cy="10972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5" name="Text 13"/>
          <p:cNvSpPr/>
          <p:nvPr/>
        </p:nvSpPr>
        <p:spPr>
          <a:xfrm>
            <a:off x="8321040" y="4937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CONFIGURABLE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21040" y="53492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every property segment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Abid Mirza · Founder, BFC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6400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·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insight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UAE property is a </a:t>
            </a:r>
            <a:pPr indent="0" marL="0">
              <a:buNone/>
            </a:pPr>
            <a:r>
              <a:rPr lang="en-US" sz="4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$1+ trillion</a:t>
            </a:r>
            <a:pPr indent="0" marL="0">
              <a:buNone/>
            </a:pPr>
            <a:r>
              <a:rPr lang="en-US" sz="4000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 industry</a:t>
            </a:r>
            <a:pPr indent="0" marL="0">
              <a:buNone/>
            </a:pPr>
            <a:r>
              <a:rPr lang="en-US" sz="4000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 running on </a:t>
            </a:r>
            <a:endParaRPr lang="en-US" sz="4000" dirty="0"/>
          </a:p>
          <a:p>
            <a:pPr indent="0" marL="0">
              <a:buNone/>
            </a:pPr>
            <a:r>
              <a:rPr lang="en-US" sz="4000" b="1" i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Excel</a:t>
            </a:r>
            <a:pPr indent="0" marL="0">
              <a:buNone/>
            </a:pPr>
            <a:r>
              <a:rPr lang="en-US" sz="4000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Brokers, builders, contractors — the entire property value chain — operate on spreadsheets, WhatsApp threads, and outdated CRMs adapted from generic SaaS. Newer tools claim AI but use it superficially — chatbots, simple matchers, dedup. None build a configurable platform that grows with the firm. None bring AI deep into the daily workflow. None scale across the property value chain.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5029200"/>
            <a:ext cx="91440" cy="128016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5029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generative AI just changed everything.</a:t>
            </a:r>
            <a:pPr indent="0" marL="0">
              <a:lnSpc>
                <a:spcPts val="2600"/>
              </a:lnSpc>
              <a:buNone/>
            </a:pPr>
            <a:endParaRPr lang="en-US" sz="22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window to build the deeply AI-native, configurable, multi-segment property platform is open. </a:t>
            </a:r>
            <a:pPr indent="0" marL="0">
              <a:lnSpc>
                <a:spcPts val="2600"/>
              </a:lnSpc>
              <a:buNone/>
            </a:pPr>
            <a:r>
              <a:rPr lang="en-US" sz="1600" b="1" i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now.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Brokers are bleeding deals to bad tooling.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5,000+ broker firms in UAE. Most use Excel or generic CRMs that don't understand their workflow. The cost is real — and quantifiable.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530352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743200"/>
            <a:ext cx="73152" cy="1691640"/>
          </a:xfrm>
          <a:prstGeom prst="rect">
            <a:avLst/>
          </a:prstGeom>
          <a:solidFill>
            <a:srgbClr val="C5303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0175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duplication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554480" y="3291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53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30%+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554480" y="37033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leads are duplicates the agent didn't know about — losing trust and time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2743200"/>
            <a:ext cx="530352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7920" y="2743200"/>
            <a:ext cx="73152" cy="1691640"/>
          </a:xfrm>
          <a:prstGeom prst="rect">
            <a:avLst/>
          </a:prstGeom>
          <a:solidFill>
            <a:srgbClr val="A06810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0175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32320" y="2971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Inter-agent conflict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7132320" y="3291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06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Industry-wide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7132320" y="37033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 working the same buyer is a daily problem with no software solution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4617720"/>
            <a:ext cx="530352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0080" y="4617720"/>
            <a:ext cx="73152" cy="169164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89204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846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matching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554480" y="5166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0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Hours/day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1554480" y="557784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memorise inventory or scroll lists — AI should do this in seconds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217920" y="4617720"/>
            <a:ext cx="530352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217920" y="4617720"/>
            <a:ext cx="73152" cy="1691640"/>
          </a:xfrm>
          <a:prstGeom prst="rect">
            <a:avLst/>
          </a:prstGeom>
          <a:solidFill>
            <a:srgbClr val="0F766E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89204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132320" y="4846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Hand-written proposals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7132320" y="5166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 min each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7132320" y="557784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offer letter typed from scratch — inconsistent, slow, error-prone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PropPlatform Broker Edition.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working deep in the workflow. A catalogue brokers own. A platform that grows.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907792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Briefing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554480" y="32004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your full book daily. Tells you what matters today across all deals + leads.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89120" y="2743200"/>
            <a:ext cx="731520" cy="73152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712" y="2907792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0352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303520" y="32004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Per-deal advisor. Reads opportunity context. Recommends next move with reasoning.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38160" y="2743200"/>
            <a:ext cx="731520" cy="73152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2907792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5256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Match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9052560" y="32004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buyer. Get ranked unit matches in seconds, not hours.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40080" y="4572000"/>
            <a:ext cx="731520" cy="73152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36592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4617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Compose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554480" y="5029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UAE-tone proposals with Arabic greetings. Suggests payment terms intelligently.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389120" y="4572000"/>
            <a:ext cx="731520" cy="73152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3712" y="4736592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03520" y="4617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PropPulse Catalogue</a:t>
            </a:r>
            <a:endParaRPr lang="en-US" sz="1700" dirty="0"/>
          </a:p>
        </p:txBody>
      </p:sp>
      <p:sp>
        <p:nvSpPr>
          <p:cNvPr id="24" name="Text 17"/>
          <p:cNvSpPr/>
          <p:nvPr/>
        </p:nvSpPr>
        <p:spPr>
          <a:xfrm>
            <a:off x="5303520" y="5029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project DB. Browse, import to inventory, own the data. AI-discovered, human-verified.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8138160" y="4572000"/>
            <a:ext cx="731520" cy="731520"/>
          </a:xfrm>
          <a:prstGeom prst="ellipse">
            <a:avLst/>
          </a:prstGeom>
          <a:solidFill>
            <a:srgbClr val="CCFBF1"/>
          </a:solidFill>
          <a:ln/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2752" y="4736592"/>
            <a:ext cx="411480" cy="41148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052560" y="4617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</a:t>
            </a:r>
            <a:endParaRPr lang="en-US" sz="1700" dirty="0"/>
          </a:p>
        </p:txBody>
      </p:sp>
      <p:sp>
        <p:nvSpPr>
          <p:cNvPr id="28" name="Text 20"/>
          <p:cNvSpPr/>
          <p:nvPr/>
        </p:nvSpPr>
        <p:spPr>
          <a:xfrm>
            <a:off x="9052560" y="50292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adapt to your firm. Same platform extends to builders, contractors, FM. No re-platforming.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we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PropPulse — our structural moat.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multi-tenant project catalogue with import-and-own mechanics. AI-discovered, human-verified, customer-customisable. Different category from existing UAE off-plan tools.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5349240" cy="31089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834640"/>
            <a:ext cx="5349240" cy="4572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EXISTING PLAYERS  ·  DATA-AS-A-SERVICE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Broker QUERIES external API for projects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Data RENTED — no customer ownership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4251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API down → broker workflow breaks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4617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AI runs against query response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4983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 customisation — see what they show you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5349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Subscription = continued data access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63640" y="2834640"/>
            <a:ext cx="5349240" cy="3108960"/>
          </a:xfrm>
          <a:prstGeom prst="rect">
            <a:avLst/>
          </a:prstGeom>
          <a:solidFill>
            <a:srgbClr val="FAF6EC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2834640"/>
            <a:ext cx="5349240" cy="4572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28803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F25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PROPPULSE  ·  DATA-AS-BOOTSTRAP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3520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Broker IMPORTS projects to own inventory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9224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Data OWNED — clones with provenance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92240" y="4251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Catalogue down → broker keeps working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92240" y="4617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runs natively on same database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4983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Full customisation — broker edits anything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5349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Subscription = catalogue access + AI value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" y="6217920"/>
            <a:ext cx="73152" cy="4572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6217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How it works  ·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4.5 + web search discovers projects. Confidence-scored. Human-verified. Stored in multi-tenant catalogue. Brokers import to tenant inventory with one click — atomic clone with provenance tracking.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segments. One platform.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AED 850M+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addressable annual SaaS market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UAE property industry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18288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UAE PROPERTY INDUSTRY SEGMENTS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2194560"/>
            <a:ext cx="4754880" cy="548640"/>
          </a:xfrm>
          <a:prstGeom prst="rect">
            <a:avLst/>
          </a:prstGeom>
          <a:solidFill>
            <a:srgbClr val="FAF6E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0" y="2194560"/>
            <a:ext cx="54864" cy="54864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961120" y="21945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0" y="21945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BUILDING NOW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0" y="283464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0" y="2834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 / Developer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961120" y="28346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30-50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0" y="2834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Year 2 H1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0" y="347472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40880" y="3474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61120" y="3474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0" y="3474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Year 2 H2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58000" y="411480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41148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Planning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6112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0" y="41148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Year 3 H1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475488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4754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Management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961120" y="4754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58400" y="4754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Year 3 H2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080" y="5760720"/>
            <a:ext cx="54864" cy="64008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7607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We don't try to be everything at once.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We ship Broker Edition first, prove it, then add segments one at a time over 2-3 years. </a:t>
            </a:r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platform. Each release expands the market.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working platform with real moat.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slideware. Not vapourware. Production code, deployed, tested, used.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2606040" cy="155448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4069080"/>
            <a:ext cx="2606040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17,000+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production code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7288" y="2560320"/>
            <a:ext cx="2606040" cy="155448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10" name="Shape 8"/>
          <p:cNvSpPr/>
          <p:nvPr/>
        </p:nvSpPr>
        <p:spPr>
          <a:xfrm>
            <a:off x="3447288" y="4069080"/>
            <a:ext cx="2606040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30168" y="35204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 integrated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4496" y="2560320"/>
            <a:ext cx="2606040" cy="155448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14" name="Shape 12"/>
          <p:cNvSpPr/>
          <p:nvPr/>
        </p:nvSpPr>
        <p:spPr>
          <a:xfrm>
            <a:off x="6254496" y="4069080"/>
            <a:ext cx="2606040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PropPulse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437376" y="35204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project catalogue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061704" y="2560320"/>
            <a:ext cx="2606040" cy="155448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18" name="Shape 16"/>
          <p:cNvSpPr/>
          <p:nvPr/>
        </p:nvSpPr>
        <p:spPr>
          <a:xfrm>
            <a:off x="9061704" y="4069080"/>
            <a:ext cx="2606040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9" name="Text 17"/>
          <p:cNvSpPr/>
          <p:nvPr/>
        </p:nvSpPr>
        <p:spPr>
          <a:xfrm>
            <a:off x="9061704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244584" y="35204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customer signed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434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WORKING IN PRODUCTION</a:t>
            </a:r>
            <a:endParaRPr lang="en-US" sz="10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864608"/>
            <a:ext cx="274320" cy="27432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051560" y="4800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Briefing — reads 40+ opps daily, surfaces what's hot</a:t>
            </a:r>
            <a:endParaRPr lang="en-US" sz="13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864608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6629400" y="4800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 — per-deal recommendations with reasoning</a:t>
            </a:r>
            <a:endParaRPr lang="en-US" sz="13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367528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051560" y="5303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Match — ranks units against buyer profile in seconds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5367528"/>
            <a:ext cx="274320" cy="27432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629400" y="5303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Compose — drafts UAE-tone proposals with Arabic greetings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870448"/>
            <a:ext cx="274320" cy="27432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051560" y="5806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PropPulse — multi-tenant catalogue, AI-discovered, broker-imported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5870448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29400" y="5806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Outstanding — full receivables cycle: invoice, chase, collect, export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Disciplined. One segment at a time.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release is a market announcement. Each segment validated before the next is started.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10332720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417320" y="3611880"/>
            <a:ext cx="640080" cy="640080"/>
          </a:xfrm>
          <a:prstGeom prst="ellipse">
            <a:avLst/>
          </a:prstGeom>
          <a:solidFill>
            <a:srgbClr val="C9A84C"/>
          </a:solidFill>
          <a:ln w="31750">
            <a:solidFill>
              <a:srgbClr val="C9A84C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374904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4434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Edition v1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Launch.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+ 10-20 customers.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935224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Year 2 H1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712464" y="3611880"/>
            <a:ext cx="640080" cy="6400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F2540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624" y="37490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89504" y="4434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 Edition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889504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segment.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230368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Year 2 H2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07608" y="3611880"/>
            <a:ext cx="640080" cy="6400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F2540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7490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84648" y="4434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Edition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518464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workflows.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Sub-contractor mgmt.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7525512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Year 3 H1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302752" y="3611880"/>
            <a:ext cx="640080" cy="6400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F2540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912" y="374904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479792" y="4434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Edition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7479792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+ master plans.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Regulatory.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9820656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Year 3 H2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10597896" y="3611880"/>
            <a:ext cx="640080" cy="6400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F2540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35056" y="3749040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774936" y="4434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Mgmt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9774936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Post-handover.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+ maintenance.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40080" y="6035040"/>
            <a:ext cx="54864" cy="54864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2" name="Text 25"/>
          <p:cNvSpPr/>
          <p:nvPr/>
        </p:nvSpPr>
        <p:spPr>
          <a:xfrm>
            <a:off x="868680" y="6035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 reinvention.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 for Broker becomes the foundation for every future Edition. Same platform, same architecture — segment templates layer on top.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5029200"/>
            <a:ext cx="4572000" cy="4572000"/>
          </a:xfrm>
          <a:prstGeom prst="ellipse">
            <a:avLst/>
          </a:prstGeom>
          <a:solidFill>
            <a:srgbClr val="C9A84C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 with us to own UAE property tech.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WE'RE RAISING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to scale Broker Edition.</a:t>
            </a:r>
            <a:endParaRPr lang="en-US" sz="1800" dirty="0"/>
          </a:p>
          <a:p>
            <a:pPr indent="0" marL="0">
              <a:lnSpc>
                <a:spcPts val="2200"/>
              </a:lnSpc>
              <a:buNone/>
            </a:pPr>
            <a:endParaRPr lang="en-US" sz="18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12-18 months runway for product, sales, and customer success across 20-50 broker firms.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12648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BRING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6480" y="3429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product, deployed, tested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26480" y="38130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381304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customer signed (Al Mansoori)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41970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41970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with deep enterprise software background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458114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5811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architecture for 5 future segments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26480" y="496519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49651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moat — PropPulse + AI workflow depth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6217920"/>
            <a:ext cx="10972800" cy="36576"/>
          </a:xfrm>
          <a:prstGeom prst="rect">
            <a:avLst/>
          </a:prstGeom>
          <a:solidFill>
            <a:srgbClr val="C9A84C">
              <a:alpha val="4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Abid Mirza · Founder, BFC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6355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talk.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PropPlatform — The OS for UAE Property Industry</dc:title>
  <dc:subject>PptxGenJS Presentation</dc:subject>
  <dc:creator>Abid Mirza, BFC</dc:creator>
  <cp:lastModifiedBy>Abid Mirza, BFC</cp:lastModifiedBy>
  <cp:revision>1</cp:revision>
  <dcterms:created xsi:type="dcterms:W3CDTF">2026-05-04T10:12:18Z</dcterms:created>
  <dcterms:modified xsi:type="dcterms:W3CDTF">2026-05-04T10:12:19Z</dcterms:modified>
</cp:coreProperties>
</file>