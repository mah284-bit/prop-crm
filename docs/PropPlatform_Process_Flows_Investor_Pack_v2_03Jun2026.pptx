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PROPPLATFORM · BROKER EDITION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6-stage broker sales lifecycle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off-plan property sales actually work in the UAE — and why brokers need a CRM purpose-built for this workflow.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840480"/>
            <a:ext cx="3657600" cy="1463040"/>
          </a:xfrm>
          <a:prstGeom prst="rect">
            <a:avLst/>
          </a:prstGeom>
          <a:solidFill>
            <a:srgbClr val="2F5582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9776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31520" y="4709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Stages, end-to-end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50017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Agreement → Commission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70832" y="3840480"/>
            <a:ext cx="3657600" cy="1463040"/>
          </a:xfrm>
          <a:prstGeom prst="rect">
            <a:avLst/>
          </a:prstGeom>
          <a:solidFill>
            <a:srgbClr val="2F5582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39776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4553712" y="4709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portals replaced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53712" y="50017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juggling 5+ portals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93024" y="3840480"/>
            <a:ext cx="3657600" cy="1463040"/>
          </a:xfrm>
          <a:prstGeom prst="rect">
            <a:avLst/>
          </a:prstGeom>
          <a:solidFill>
            <a:srgbClr val="2F5582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5904" y="39776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8375904" y="4709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live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75904" y="50017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Briefing, Coach, Match, Compose, PropPulse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5897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Abid Mirza · Founder, BFC · Investor Pack ·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MASTER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stages from agreement to commission.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has its own actors, captured data, and integration points. The platform must support all six end-to-end so brokers don't drop into developer portals mid-deal.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16916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B892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286000"/>
            <a:ext cx="1691640" cy="9144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468880"/>
            <a:ext cx="502920" cy="502920"/>
          </a:xfrm>
          <a:prstGeom prst="ellipse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30632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703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relationship setup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1508760" cy="22860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1605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57984" y="315468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286000" y="2286000"/>
            <a:ext cx="16916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55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0" y="2286000"/>
            <a:ext cx="1691640" cy="91440"/>
          </a:xfrm>
          <a:prstGeom prst="rect">
            <a:avLst/>
          </a:prstGeom>
          <a:solidFill>
            <a:srgbClr val="2F5582"/>
          </a:solidFill>
          <a:ln w="12700">
            <a:solidFill>
              <a:srgbClr val="2F55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80360" y="2468880"/>
            <a:ext cx="502920" cy="502920"/>
          </a:xfrm>
          <a:prstGeom prst="ellipse">
            <a:avLst/>
          </a:prstGeom>
          <a:solidFill>
            <a:srgbClr val="2F5582"/>
          </a:solidFill>
          <a:ln w="12700">
            <a:solidFill>
              <a:srgbClr val="2F55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8036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331720" y="30632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377440" y="3703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engagement + qualification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377440" y="4160520"/>
            <a:ext cx="1508760" cy="228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77440" y="41605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986784" y="315468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114800" y="2286000"/>
            <a:ext cx="16916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558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286000"/>
            <a:ext cx="1691640" cy="91440"/>
          </a:xfrm>
          <a:prstGeom prst="rect">
            <a:avLst/>
          </a:prstGeom>
          <a:solidFill>
            <a:srgbClr val="2F5582"/>
          </a:solidFill>
          <a:ln w="12700">
            <a:solidFill>
              <a:srgbClr val="2F558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2468880"/>
            <a:ext cx="502920" cy="502920"/>
          </a:xfrm>
          <a:prstGeom prst="ellipse">
            <a:avLst/>
          </a:prstGeom>
          <a:solidFill>
            <a:srgbClr val="2F5582"/>
          </a:solidFill>
          <a:ln w="12700">
            <a:solidFill>
              <a:srgbClr val="2F55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160520" y="30632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with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06240" y="3703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+ discount approval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206240" y="4160520"/>
            <a:ext cx="1508760" cy="228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0" y="41605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15584" y="315468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943600" y="2286000"/>
            <a:ext cx="16916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0" y="2286000"/>
            <a:ext cx="169164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37960" y="246888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989320" y="30632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Payment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035040" y="3703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monitoring + docs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035040" y="4160520"/>
            <a:ext cx="1508760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35040" y="41605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644384" y="315468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7772400" y="2286000"/>
            <a:ext cx="16916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72400" y="2286000"/>
            <a:ext cx="169164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66760" y="246888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6676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7818120" y="30632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/ Sale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Deed Executed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863840" y="3703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 + verification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863840" y="4160520"/>
            <a:ext cx="1508760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63840" y="41605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9473184" y="315468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9601200" y="2286000"/>
            <a:ext cx="16916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601200" y="2286000"/>
            <a:ext cx="169164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195560" y="246888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19556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9646920" y="30632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Invoicing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9692640" y="3703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+ accounting handoff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9692640" y="4160520"/>
            <a:ext cx="1508760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692640" y="41605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57200" y="4892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flow:  Buyer  →  Developer  →  Broker (commission)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457200" y="5212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broker never holds buyer money. PropPlatform tracks the buyer's compliance so the broker can claim commission once the contract executes.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LIVE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Developer Agreement.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 per developer relationship. Captures commission terms, payment rules, and document trail. Becomes the default reference for every subsequent deal — saves brokers from re-entering terms per transaction.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5486400" cy="38862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92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240280"/>
            <a:ext cx="5486400" cy="41148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402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MODULE CAPTURES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834640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name + relationship contact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period (start, end, renewal date)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commission % (e.g., 4%, 5%)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Project-specific commission overrides (e.g., 6% on priority projects)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terms (commission paid 14 days post-SPA, etc.)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authority + escalation tiers (volume bonuses)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agreement document (PDF upload)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Signatory + signed date (audit trail)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2240280"/>
            <a:ext cx="5486400" cy="3886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25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2240280"/>
            <a:ext cx="5486400" cy="411480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22402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2834640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values reference for every deal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Project-level overrides without re-entering master terms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document trail (regulator + tax + dispute resolution)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Stage 2 (Lead → Opportunity) with correct commission baseline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Multi-developer support (Emaar, DAMAC, Sobha, Aldar simultaneously)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pp_commissions schema — live and in use across deals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everything downstream — Stages 2-6 reference it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2 through 6 — sequenced and scoped.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is independently shippable with no architectural rework. Stage N's output is Stage N+1's input — clean handoffs, no big bang.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10972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386584"/>
            <a:ext cx="393192" cy="393192"/>
          </a:xfrm>
          <a:prstGeom prst="ellipse">
            <a:avLst/>
          </a:prstGeom>
          <a:solidFill>
            <a:srgbClr val="2F5582"/>
          </a:solidFill>
          <a:ln w="12700">
            <a:solidFill>
              <a:srgbClr val="2F55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86584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3042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→ Opportunity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5877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profile + qualification + property interest. Already shipped. Stage 1 outputs feed default commission terms to every Opportunity created.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235440" y="2441448"/>
            <a:ext cx="205740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0" y="244144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10972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118104"/>
            <a:ext cx="393192" cy="393192"/>
          </a:xfrm>
          <a:prstGeom prst="ellipse">
            <a:avLst/>
          </a:prstGeom>
          <a:solidFill>
            <a:srgbClr val="2F5582"/>
          </a:solidFill>
          <a:ln w="12700">
            <a:solidFill>
              <a:srgbClr val="2F55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18104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0358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with Developer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33192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form + discount request workflow. Discount-approval logic and developer-side handshake to be completed.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235440" y="3172968"/>
            <a:ext cx="2057400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0" y="317296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10972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849624"/>
            <a:ext cx="393192" cy="393192"/>
          </a:xfrm>
          <a:prstGeom prst="ellipse">
            <a:avLst/>
          </a:prstGeom>
          <a:solidFill>
            <a:srgbClr val="2F5582"/>
          </a:solidFill>
          <a:ln w="12700">
            <a:solidFill>
              <a:srgbClr val="2F55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849624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37673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Payment Tracking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405079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schedule from booking. Manual + document-upload payment confirmations. Triggers commission readiness alerts.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235440" y="3904488"/>
            <a:ext cx="20574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35440" y="390448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4434840"/>
            <a:ext cx="10972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4581144"/>
            <a:ext cx="393192" cy="393192"/>
          </a:xfrm>
          <a:prstGeom prst="ellipse">
            <a:avLst/>
          </a:prstGeom>
          <a:solidFill>
            <a:srgbClr val="2F5582"/>
          </a:solidFill>
          <a:ln w="12700">
            <a:solidFill>
              <a:srgbClr val="2F55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581144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88720" y="44988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/ Sale Deed Execution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88720" y="478231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 + verification + status flag. Confirms the sale is binding — unblocks commission invoicing in Stage 6.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235440" y="4636008"/>
            <a:ext cx="20574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35440" y="463600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5166360"/>
            <a:ext cx="10972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" y="5312664"/>
            <a:ext cx="393192" cy="393192"/>
          </a:xfrm>
          <a:prstGeom prst="ellipse">
            <a:avLst/>
          </a:prstGeom>
          <a:solidFill>
            <a:srgbClr val="2F5582"/>
          </a:solidFill>
          <a:ln w="12700">
            <a:solidFill>
              <a:srgbClr val="2F55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5312664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88720" y="52303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Invoicing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88720" y="551383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a full payable invoice from deal data. Issue, chase, collect, export to accounting. Closes the loop.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235440" y="5367528"/>
            <a:ext cx="20574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35440" y="536752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done as tagged for Stage 2 — no architectural rework. Disciplined sequencing.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 vs the post-demo roadmap.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framing: what is deployed and customer-facing today, versus what comes next after this raise.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548640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031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· LIVE IN PRODUCTION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5486400" cy="3108960"/>
          </a:xfrm>
          <a:prstGeom prst="rect">
            <a:avLst/>
          </a:prstGeom>
          <a:solidFill>
            <a:srgbClr val="2F5582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4320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sales stages live — Agreement to Commission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Coach, Match, Compose, Briefing — all integrated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PropPulse catalogue — multi-tenant, AI-verified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cycle — invoice, chase, collect, export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Queue + governed assignment (audit trail)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sync + multi-tenant isolation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customer (Al Mansoori) + Property Pack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2103120"/>
            <a:ext cx="5486400" cy="50292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21031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· POST-RAISE ROADMAP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2606040"/>
            <a:ext cx="5486400" cy="3108960"/>
          </a:xfrm>
          <a:prstGeom prst="rect">
            <a:avLst/>
          </a:prstGeom>
          <a:solidFill>
            <a:srgbClr val="2F5582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74320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Communications Overhaul — branded PDFs, email/WhatsApp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Leasing edition (next segment)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dashboard + portfolio AI Coach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data integrations (RERA, DLD)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contractor edition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normalisation + platform hardening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from 1 pilot to 10-20 brokerages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Disciplined. One stage at a time. Each release is a market announcement.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PropPlatform Process Flows — Investor Pack</dc:title>
  <dc:subject>PptxGenJS Presentation</dc:subject>
  <dc:creator>Abid Mirza, BFC</dc:creator>
  <cp:lastModifiedBy>Abid Mirza, BFC</cp:lastModifiedBy>
  <cp:revision>1</cp:revision>
  <dcterms:created xsi:type="dcterms:W3CDTF">2026-05-07T11:35:34Z</dcterms:created>
  <dcterms:modified xsi:type="dcterms:W3CDTF">2026-05-07T11:35:34Z</dcterms:modified>
</cp:coreProperties>
</file>