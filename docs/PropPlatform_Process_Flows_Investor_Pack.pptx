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PROPPLATFORM · BROKER EDITION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6-stage broker sales lifecycle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24688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off-plan property sales actually work in the UAE — and why brokers need a CRM purpose-built for this workflow.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3840480"/>
            <a:ext cx="3657600" cy="1463040"/>
          </a:xfrm>
          <a:prstGeom prst="rect">
            <a:avLst/>
          </a:prstGeom>
          <a:solidFill>
            <a:srgbClr val="2F5582"/>
          </a:solidFill>
          <a:ln w="12700">
            <a:solidFill>
              <a:srgbClr val="B892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9776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731520" y="47091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Stages, end-to-end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500176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Agreement → Commission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70832" y="3840480"/>
            <a:ext cx="3657600" cy="1463040"/>
          </a:xfrm>
          <a:prstGeom prst="rect">
            <a:avLst/>
          </a:prstGeom>
          <a:solidFill>
            <a:srgbClr val="2F5582"/>
          </a:solidFill>
          <a:ln w="12700">
            <a:solidFill>
              <a:srgbClr val="B892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53712" y="39776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4553712" y="47091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shipping next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53712" y="500176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Developer Agreement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193024" y="3840480"/>
            <a:ext cx="3657600" cy="1463040"/>
          </a:xfrm>
          <a:prstGeom prst="rect">
            <a:avLst/>
          </a:prstGeom>
          <a:solidFill>
            <a:srgbClr val="2F5582"/>
          </a:solidFill>
          <a:ln w="12700">
            <a:solidFill>
              <a:srgbClr val="B892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75904" y="39776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5600" dirty="0"/>
          </a:p>
        </p:txBody>
      </p:sp>
      <p:sp>
        <p:nvSpPr>
          <p:cNvPr id="15" name="Text 13"/>
          <p:cNvSpPr/>
          <p:nvPr/>
        </p:nvSpPr>
        <p:spPr>
          <a:xfrm>
            <a:off x="8375904" y="47091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defined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75904" y="500176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Scoped, sequenced, ready to build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5897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Abid Mirza · Founder, BFC · Investor Pack · May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MASTER 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stages from agreement to commission.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has its own actors, captured data, and integration points. The platform must support all six end-to-end so brokers don't drop into developer portals mid-deal.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169164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B892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286000"/>
            <a:ext cx="1691640" cy="91440"/>
          </a:xfrm>
          <a:prstGeom prst="rect">
            <a:avLst/>
          </a:prstGeom>
          <a:solidFill>
            <a:srgbClr val="B8924A"/>
          </a:solidFill>
          <a:ln w="12700">
            <a:solidFill>
              <a:srgbClr val="B892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2468880"/>
            <a:ext cx="502920" cy="502920"/>
          </a:xfrm>
          <a:prstGeom prst="ellipse">
            <a:avLst/>
          </a:prstGeom>
          <a:solidFill>
            <a:srgbClr val="B8924A"/>
          </a:solidFill>
          <a:ln w="12700">
            <a:solidFill>
              <a:srgbClr val="B892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02920" y="306324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7033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relationship setup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4160520"/>
            <a:ext cx="1508760" cy="228600"/>
          </a:xfrm>
          <a:prstGeom prst="rect">
            <a:avLst/>
          </a:prstGeom>
          <a:solidFill>
            <a:srgbClr val="B8924A"/>
          </a:solidFill>
          <a:ln w="12700">
            <a:solidFill>
              <a:srgbClr val="B892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41605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NOW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157984" y="3154680"/>
            <a:ext cx="11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286000" y="2286000"/>
            <a:ext cx="169164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F558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86000" y="2286000"/>
            <a:ext cx="1691640" cy="91440"/>
          </a:xfrm>
          <a:prstGeom prst="rect">
            <a:avLst/>
          </a:prstGeom>
          <a:solidFill>
            <a:srgbClr val="2F5582"/>
          </a:solidFill>
          <a:ln w="12700">
            <a:solidFill>
              <a:srgbClr val="2F558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80360" y="2468880"/>
            <a:ext cx="502920" cy="502920"/>
          </a:xfrm>
          <a:prstGeom prst="ellipse">
            <a:avLst/>
          </a:prstGeom>
          <a:solidFill>
            <a:srgbClr val="2F5582"/>
          </a:solidFill>
          <a:ln w="12700">
            <a:solidFill>
              <a:srgbClr val="2F55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8036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331720" y="306324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→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377440" y="37033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engagement + qualification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377440" y="4160520"/>
            <a:ext cx="1508760" cy="2286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77440" y="41605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EXISTS IN APP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986784" y="3154680"/>
            <a:ext cx="11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114800" y="2286000"/>
            <a:ext cx="169164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F558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0" y="2286000"/>
            <a:ext cx="1691640" cy="91440"/>
          </a:xfrm>
          <a:prstGeom prst="rect">
            <a:avLst/>
          </a:prstGeom>
          <a:solidFill>
            <a:srgbClr val="2F5582"/>
          </a:solidFill>
          <a:ln w="12700">
            <a:solidFill>
              <a:srgbClr val="2F558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09160" y="2468880"/>
            <a:ext cx="502920" cy="502920"/>
          </a:xfrm>
          <a:prstGeom prst="ellipse">
            <a:avLst/>
          </a:prstGeom>
          <a:solidFill>
            <a:srgbClr val="2F5582"/>
          </a:solidFill>
          <a:ln w="12700">
            <a:solidFill>
              <a:srgbClr val="2F558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160520" y="306324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with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206240" y="37033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 + discount approval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206240" y="4160520"/>
            <a:ext cx="1508760" cy="2286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06240" y="41605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IN APP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815584" y="3154680"/>
            <a:ext cx="11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5943600" y="2286000"/>
            <a:ext cx="169164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943600" y="2286000"/>
            <a:ext cx="1691640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37960" y="246888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5989320" y="306324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Payment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035040" y="37033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monitoring + docs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035040" y="4160520"/>
            <a:ext cx="1508760" cy="228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35040" y="41605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644384" y="3154680"/>
            <a:ext cx="11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7772400" y="2286000"/>
            <a:ext cx="169164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772400" y="2286000"/>
            <a:ext cx="1691640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366760" y="246888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36676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7818120" y="306324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/ Sale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Deed Executed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7863840" y="37033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upload + verification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863840" y="4160520"/>
            <a:ext cx="1508760" cy="228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863840" y="41605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5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9473184" y="3154680"/>
            <a:ext cx="11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9601200" y="2286000"/>
            <a:ext cx="169164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601200" y="2286000"/>
            <a:ext cx="1691640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195560" y="246888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19556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54" name="Text 52"/>
          <p:cNvSpPr/>
          <p:nvPr/>
        </p:nvSpPr>
        <p:spPr>
          <a:xfrm>
            <a:off x="9646920" y="306324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Invoicing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9692640" y="37033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+ accounting handoff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9692640" y="4160520"/>
            <a:ext cx="1508760" cy="228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692640" y="41605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6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457200" y="4892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flow:  Buyer  →  Developer  →  Broker (commission)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457200" y="52120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broker never holds buyer money. PropPlatform tracks the buyer's compliance so the broker can claim commission once the contract executes.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· BUILDING NOW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Developer Agreement.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setup per developer relationship. Captures commission terms, payment rules, and document trail. Becomes the default reference for every subsequent deal — saves brokers from re-entering terms per transaction.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2240280"/>
            <a:ext cx="5486400" cy="3886200"/>
          </a:xfrm>
          <a:prstGeom prst="rect">
            <a:avLst/>
          </a:prstGeom>
          <a:solidFill>
            <a:srgbClr val="FFFFFF"/>
          </a:solidFill>
          <a:ln w="19050">
            <a:solidFill>
              <a:srgbClr val="B892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240280"/>
            <a:ext cx="5486400" cy="411480"/>
          </a:xfrm>
          <a:prstGeom prst="rect">
            <a:avLst/>
          </a:prstGeom>
          <a:solidFill>
            <a:srgbClr val="B8924A"/>
          </a:solidFill>
          <a:ln w="12700">
            <a:solidFill>
              <a:srgbClr val="B892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2402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MODULE CAPTURES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834640"/>
            <a:ext cx="50292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name + relationship contact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period (start, end, renewal date)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commission % (e.g., 4%, 5%)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Project-specific commission overrides (e.g., 6% on priority projects)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terms (commission paid 14 days post-SPA, etc.)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authority + escalation tiers (volume bonuses)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agreement document (PDF upload)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Signatory + signed date (audit trail)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63640" y="2240280"/>
            <a:ext cx="5486400" cy="3886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F25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2240280"/>
            <a:ext cx="5486400" cy="411480"/>
          </a:xfrm>
          <a:prstGeom prst="rect">
            <a:avLst/>
          </a:prstGeom>
          <a:solidFill>
            <a:srgbClr val="0F2540"/>
          </a:solidFill>
          <a:ln w="12700">
            <a:solidFill>
              <a:srgbClr val="0F25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63640" y="22402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92240" y="2834640"/>
            <a:ext cx="50292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values reference for every deal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Project-level overrides without re-entering master terms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Audit-ready document trail (regulator + tax + dispute resolution)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Stage 2 (Lead → Opportunity) with correct commission baseline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Multi-developer support (Emaar, DAMAC, Sobha, Aldar simultaneously)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already partially exists in pp_commissions — extending, not building from scratch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for everything downstream — Stages 2-6 reference it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2 through 6 — sequenced and scoped.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is independently shippable with no architectural rework. Stage N's output is Stage N+1's input — clean handoffs, no big bang.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2240280"/>
            <a:ext cx="10972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386584"/>
            <a:ext cx="393192" cy="393192"/>
          </a:xfrm>
          <a:prstGeom prst="ellipse">
            <a:avLst/>
          </a:prstGeom>
          <a:solidFill>
            <a:srgbClr val="2F5582"/>
          </a:solidFill>
          <a:ln w="12700">
            <a:solidFill>
              <a:srgbClr val="2F55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386584"/>
            <a:ext cx="3931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230428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→ Opportunity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25877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profile + qualification + property interest. Already shipped. Stage 1 outputs feed default commission terms to every Opportunity created.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235440" y="2441448"/>
            <a:ext cx="2057400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35440" y="244144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EXISTS IN APP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971800"/>
            <a:ext cx="10972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3118104"/>
            <a:ext cx="393192" cy="393192"/>
          </a:xfrm>
          <a:prstGeom prst="ellipse">
            <a:avLst/>
          </a:prstGeom>
          <a:solidFill>
            <a:srgbClr val="2F5582"/>
          </a:solidFill>
          <a:ln w="12700">
            <a:solidFill>
              <a:srgbClr val="2F55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118104"/>
            <a:ext cx="3931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303580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with Developer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88720" y="331927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 form + discount request workflow. Discount-approval logic and developer-side handshake to be completed.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235440" y="3172968"/>
            <a:ext cx="2057400" cy="2926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35440" y="317296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IN APP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703320"/>
            <a:ext cx="10972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3849624"/>
            <a:ext cx="393192" cy="393192"/>
          </a:xfrm>
          <a:prstGeom prst="ellipse">
            <a:avLst/>
          </a:prstGeom>
          <a:solidFill>
            <a:srgbClr val="2F5582"/>
          </a:solidFill>
          <a:ln w="12700">
            <a:solidFill>
              <a:srgbClr val="2F55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849624"/>
            <a:ext cx="3931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88720" y="376732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Payment Tracking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88720" y="405079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schedule from booking. Manual + document-upload payment confirmations. Triggers commission readiness alerts.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235440" y="3904488"/>
            <a:ext cx="205740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35440" y="390448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BUILD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4434840"/>
            <a:ext cx="10972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" y="4581144"/>
            <a:ext cx="393192" cy="393192"/>
          </a:xfrm>
          <a:prstGeom prst="ellipse">
            <a:avLst/>
          </a:prstGeom>
          <a:solidFill>
            <a:srgbClr val="2F5582"/>
          </a:solidFill>
          <a:ln w="12700">
            <a:solidFill>
              <a:srgbClr val="2F558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4581144"/>
            <a:ext cx="3931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88720" y="44988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/ Sale Deed Execution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188720" y="478231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upload + verification + status flag. Confirms the sale is binding — unblocks commission invoicing in Stage 6.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235440" y="4636008"/>
            <a:ext cx="205740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35440" y="463600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BUILD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5166360"/>
            <a:ext cx="10972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0080" y="5312664"/>
            <a:ext cx="393192" cy="393192"/>
          </a:xfrm>
          <a:prstGeom prst="ellipse">
            <a:avLst/>
          </a:prstGeom>
          <a:solidFill>
            <a:srgbClr val="2F5582"/>
          </a:solidFill>
          <a:ln w="12700">
            <a:solidFill>
              <a:srgbClr val="2F558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5312664"/>
            <a:ext cx="3931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188720" y="52303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Invoicing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188720" y="551383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Auto-generates invoice from Stages 1+5 data. Pushes to broker's accounting tool (Tally/Zoho). Closes the loop.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9235440" y="5367528"/>
            <a:ext cx="205740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235440" y="536752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BUILD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5720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done as tagged for Stage 2 — no architectural rework. Disciplined sequencing.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STAND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vs the next 14 days.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framing: what's deployed and customer-facing right now, versus what ships before the investor meeting.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5486400" cy="5029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1031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· LIVE IN PRODUCTION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5486400" cy="3108960"/>
          </a:xfrm>
          <a:prstGeom prst="rect">
            <a:avLst/>
          </a:prstGeom>
          <a:solidFill>
            <a:srgbClr val="2F5582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74320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(Lead → Opportunity) — full workflow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Briefing, Coach, Match, Compose — all 4 features integrated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PropPulse multi-tenant catalogue (50 projects, 17 developers)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operational at 85% success rate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customer signed (Al Mansoori Properties)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data isolation + audit trails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workflow architecture (ready for builder + contractor)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63640" y="2103120"/>
            <a:ext cx="5486400" cy="502920"/>
          </a:xfrm>
          <a:prstGeom prst="rect">
            <a:avLst/>
          </a:prstGeom>
          <a:solidFill>
            <a:srgbClr val="B8924A"/>
          </a:solidFill>
          <a:ln w="12700">
            <a:solidFill>
              <a:srgbClr val="B892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63640" y="21031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14 DAYS · BUILDING NOW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2606040"/>
            <a:ext cx="5486400" cy="3108960"/>
          </a:xfrm>
          <a:prstGeom prst="rect">
            <a:avLst/>
          </a:prstGeom>
          <a:solidFill>
            <a:srgbClr val="2F5582"/>
          </a:solidFill>
          <a:ln w="12700">
            <a:solidFill>
              <a:srgbClr val="B892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274320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(Master Developer Agreement) — full module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schema extension on pp_commissions table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for adding/editing/viewing master agreements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upload + signed PDF storage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integration — Opportunities pull defaults from Stage 1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next-stage spec document — ready for build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orchestrated for investor meeting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Disciplined. One stage at a time. Each release is a market announcement.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PropPlatform Process Flows — Investor Pack</dc:title>
  <dc:subject>PptxGenJS Presentation</dc:subject>
  <dc:creator>Abid Mirza, BFC</dc:creator>
  <cp:lastModifiedBy>Abid Mirza, BFC</cp:lastModifiedBy>
  <cp:revision>1</cp:revision>
  <dcterms:created xsi:type="dcterms:W3CDTF">2026-05-07T11:35:34Z</dcterms:created>
  <dcterms:modified xsi:type="dcterms:W3CDTF">2026-05-07T11:35:34Z</dcterms:modified>
</cp:coreProperties>
</file>