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pn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png"/><Relationship Id="rId19" Type="http://schemas.openxmlformats.org/officeDocument/2006/relationships/image" Target="../media/image-15-19.png"/><Relationship Id="rId20" Type="http://schemas.openxmlformats.org/officeDocument/2006/relationships/image" Target="../media/image-15-20.png"/><Relationship Id="rId21" Type="http://schemas.openxmlformats.org/officeDocument/2006/relationships/image" Target="../media/image-15-21.png"/><Relationship Id="rId22" Type="http://schemas.openxmlformats.org/officeDocument/2006/relationships/image" Target="../media/image-15-22.png"/><Relationship Id="rId23" Type="http://schemas.openxmlformats.org/officeDocument/2006/relationships/image" Target="../media/image-15-23.png"/><Relationship Id="rId24" Type="http://schemas.openxmlformats.org/officeDocument/2006/relationships/image" Target="../media/image-15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0"/>
            <a:ext cx="2926080" cy="6858000"/>
          </a:xfrm>
          <a:prstGeom prst="rect">
            <a:avLst/>
          </a:prstGeom>
          <a:solidFill>
            <a:srgbClr val="061226"/>
          </a:solidFill>
          <a:ln w="12700">
            <a:solidFill>
              <a:srgbClr val="0612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15" y="2560320"/>
            <a:ext cx="137160" cy="182880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255" y="228600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 |  SECURITY ARCHITECTURE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192024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Country-wise Security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Vulnerability Separation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31520" y="4114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guide to keeping vulnerabilities, access, and reporting separated by country in Oracle Cloud Infrastructure.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" y="5212080"/>
            <a:ext cx="548640" cy="3657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5349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customer provisioning discussion  ·  Oracle Cloud Infrastructure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5669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customer really asking?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669280" cy="438912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73152" cy="438912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746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i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we separate security vulnerabilities country by country in OCI?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terms: can one country's team see and fix only their own country's problems — and nothing else?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645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they usually mean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0" y="2148840"/>
            <a:ext cx="502920" cy="502920"/>
          </a:xfrm>
          <a:prstGeom prst="ellipse">
            <a:avLst/>
          </a:prstGeom>
          <a:solidFill>
            <a:srgbClr val="F5F7FB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24028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223760" y="21305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in-country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223760" y="24414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results and logs shouldn't leave the country's region.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583680" y="3108960"/>
            <a:ext cx="502920" cy="502920"/>
          </a:xfrm>
          <a:prstGeom prst="ellipse">
            <a:avLst/>
          </a:prstGeom>
          <a:solidFill>
            <a:srgbClr val="F5F7FB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2004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23760" y="3090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local team sees it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223760" y="34015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team sees UAE issues, KSA team sees KSA — no cross-visibility.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583680" y="4069080"/>
            <a:ext cx="502920" cy="502920"/>
          </a:xfrm>
          <a:prstGeom prst="ellipse">
            <a:avLst/>
          </a:prstGeom>
          <a:solidFill>
            <a:srgbClr val="F5F7FB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416052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223760" y="40507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local law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223760" y="43616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lines up with UAE IA, KSA NCA, GDPR, etc.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583680" y="5029200"/>
            <a:ext cx="502920" cy="502920"/>
          </a:xfrm>
          <a:prstGeom prst="ellipse">
            <a:avLst/>
          </a:prstGeom>
          <a:solidFill>
            <a:srgbClr val="F5F7FB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51206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23760" y="50109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reports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223760" y="53218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country gets its own dashboard and audit trail.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57200" y="6510528"/>
            <a:ext cx="109728" cy="10972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Security  |  Country-wise Vulnerability Separation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IT SIMPLY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of it like a global apartment building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120640" cy="4480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011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building = your OCI setup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283464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floor is a country. Each floor has its own locked door, its own security guard, its own CCTV, and its own incident logbook.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438912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on Floor 3 (KSA) can't watch cameras on Floor 7 (UAE). A break-in on Floor 7 shows up only in Floor 7's logbook, under Floor 7's rules.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60020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OCI terms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943600" y="2148840"/>
            <a:ext cx="5760720" cy="54864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0" y="2148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092440" y="21488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OCI tenancy / organization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0" y="2788920"/>
            <a:ext cx="5760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0" y="2788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floor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092440" y="27889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country-specific tenancy or compartment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43600" y="3429000"/>
            <a:ext cx="5760720" cy="54864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3429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door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092440" y="34290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policies — who can enter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943600" y="4069080"/>
            <a:ext cx="5760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35040" y="4069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guard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092440" y="40690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Scanning Service (VSS)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943600" y="4709160"/>
            <a:ext cx="5760720" cy="54864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0" y="4709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092440" y="470916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Guard + Logging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943600" y="5349240"/>
            <a:ext cx="5760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35040" y="5349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092440" y="53492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Country-scoped reports &amp; audit trail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57200" y="6510528"/>
            <a:ext cx="109728" cy="10972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Security  |  Country-wise Vulnerability Separation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Separation happens at 4 layers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adds a wall. Together they give true country-wise isolation.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2743200" cy="1645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7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2103120" y="2331720"/>
            <a:ext cx="822960" cy="822960"/>
          </a:xfrm>
          <a:prstGeom prst="ellipse">
            <a:avLst/>
          </a:prstGeom>
          <a:solidFill>
            <a:srgbClr val="F5F7FB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2468880"/>
            <a:ext cx="45720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Organizational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85800" y="4023360"/>
            <a:ext cx="457200" cy="2743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41605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tenancy OR compartment per country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29000" y="182880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29000" y="1828800"/>
            <a:ext cx="2743200" cy="1645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7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6000" dirty="0"/>
          </a:p>
        </p:txBody>
      </p:sp>
      <p:sp>
        <p:nvSpPr>
          <p:cNvPr id="16" name="Shape 13"/>
          <p:cNvSpPr/>
          <p:nvPr/>
        </p:nvSpPr>
        <p:spPr>
          <a:xfrm>
            <a:off x="5074920" y="2331720"/>
            <a:ext cx="822960" cy="822960"/>
          </a:xfrm>
          <a:prstGeom prst="ellipse">
            <a:avLst/>
          </a:prstGeom>
          <a:solidFill>
            <a:srgbClr val="F5F7FB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468880"/>
            <a:ext cx="45720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657600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3657600" y="4023360"/>
            <a:ext cx="457200" cy="2743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657600" y="41605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OCI region inside that country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400800" y="182880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00800" y="1828800"/>
            <a:ext cx="2743200" cy="1645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62940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7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6000" dirty="0"/>
          </a:p>
        </p:txBody>
      </p:sp>
      <p:sp>
        <p:nvSpPr>
          <p:cNvPr id="24" name="Shape 20"/>
          <p:cNvSpPr/>
          <p:nvPr/>
        </p:nvSpPr>
        <p:spPr>
          <a:xfrm>
            <a:off x="8046720" y="2331720"/>
            <a:ext cx="822960" cy="822960"/>
          </a:xfrm>
          <a:prstGeom prst="ellipse">
            <a:avLst/>
          </a:prstGeom>
          <a:solidFill>
            <a:srgbClr val="F5F7FB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468880"/>
            <a:ext cx="457200" cy="5486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629400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&amp; Access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6629400" y="4023360"/>
            <a:ext cx="457200" cy="2743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629400" y="41605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Country-scoped IAM groups and policies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9372600" y="182880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372600" y="1828800"/>
            <a:ext cx="2743200" cy="1645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960120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7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6000" dirty="0"/>
          </a:p>
        </p:txBody>
      </p:sp>
      <p:sp>
        <p:nvSpPr>
          <p:cNvPr id="32" name="Shape 27"/>
          <p:cNvSpPr/>
          <p:nvPr/>
        </p:nvSpPr>
        <p:spPr>
          <a:xfrm>
            <a:off x="11018520" y="2331720"/>
            <a:ext cx="822960" cy="822960"/>
          </a:xfrm>
          <a:prstGeom prst="ellipse">
            <a:avLst/>
          </a:prstGeom>
          <a:solidFill>
            <a:srgbClr val="F5F7FB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2468880"/>
            <a:ext cx="457200" cy="54864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601200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Scanning &amp; Logs</a:t>
            </a:r>
            <a:endParaRPr lang="en-US" sz="1700" dirty="0"/>
          </a:p>
        </p:txBody>
      </p:sp>
      <p:sp>
        <p:nvSpPr>
          <p:cNvPr id="35" name="Shape 29"/>
          <p:cNvSpPr/>
          <p:nvPr/>
        </p:nvSpPr>
        <p:spPr>
          <a:xfrm>
            <a:off x="9601200" y="4023360"/>
            <a:ext cx="457200" cy="2743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9601200" y="41605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Country-scoped VSS, Cloud Guard, Logging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457200" y="6510528"/>
            <a:ext cx="109728" cy="10972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Security  |  Country-wise Vulnerability Separation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 ·  ORGANIZATIONAL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ways to structure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640080" cy="64008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Compartments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212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tenancy, many 'folders'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3108960" cy="18288"/>
          </a:xfrm>
          <a:prstGeom prst="rect">
            <a:avLst/>
          </a:prstGeom>
          <a:solidFill>
            <a:srgbClr val="D6DEE8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97180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2944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33375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· Low cost · Easy to set up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976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4270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31520" y="4663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Softer isolation · Shared billing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31520" y="5532120"/>
            <a:ext cx="3108960" cy="64008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2960" y="5532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smaller footprint, same legal entity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343400" y="1554480"/>
            <a:ext cx="3657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17720" y="1828800"/>
            <a:ext cx="640080" cy="64008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177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539496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Separate Tenancies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394960" y="2212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tenancy per country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617720" y="2697480"/>
            <a:ext cx="3108960" cy="18288"/>
          </a:xfrm>
          <a:prstGeom prst="rect">
            <a:avLst/>
          </a:prstGeom>
          <a:solidFill>
            <a:srgbClr val="D6DEE8"/>
          </a:solidFill>
          <a:ln w="12700">
            <a:solidFill>
              <a:srgbClr val="D6DEE8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971800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983480" y="2944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617720" y="33375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isolation · Separate billing · Separate audit</a:t>
            </a:r>
            <a:endParaRPr lang="en-US" sz="12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429768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983480" y="4270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617720" y="4663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admin overhead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617720" y="5532120"/>
            <a:ext cx="3108960" cy="64008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709160" y="5532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regulated industries, data sovereignty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8229600" y="1554480"/>
            <a:ext cx="3657600" cy="4754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503920" y="1828800"/>
            <a:ext cx="640080" cy="640080"/>
          </a:xfrm>
          <a:prstGeom prst="ellipse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850392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35" name="Text 29"/>
          <p:cNvSpPr/>
          <p:nvPr/>
        </p:nvSpPr>
        <p:spPr>
          <a:xfrm>
            <a:off x="928116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</a:t>
            </a:r>
            <a:endParaRPr lang="en-US" sz="1800" dirty="0"/>
          </a:p>
        </p:txBody>
      </p:sp>
      <p:sp>
        <p:nvSpPr>
          <p:cNvPr id="36" name="Text 30"/>
          <p:cNvSpPr/>
          <p:nvPr/>
        </p:nvSpPr>
        <p:spPr>
          <a:xfrm>
            <a:off x="9281160" y="2212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Tenancy per country + compartments inside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8503920" y="2697480"/>
            <a:ext cx="3108960" cy="1828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2971800"/>
            <a:ext cx="274320" cy="27432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8869680" y="2944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8503920" y="33375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model · Clean team boundaries</a:t>
            </a:r>
            <a:endParaRPr lang="en-US" sz="1200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297680"/>
            <a:ext cx="274320" cy="27432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869680" y="4270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Watch-outs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8503920" y="4663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initial design effort</a:t>
            </a:r>
            <a:endParaRPr lang="en-US" sz="1200" dirty="0"/>
          </a:p>
        </p:txBody>
      </p:sp>
      <p:sp>
        <p:nvSpPr>
          <p:cNvPr id="44" name="Shape 36"/>
          <p:cNvSpPr/>
          <p:nvPr/>
        </p:nvSpPr>
        <p:spPr>
          <a:xfrm>
            <a:off x="8503920" y="5532120"/>
            <a:ext cx="3108960" cy="640080"/>
          </a:xfrm>
          <a:prstGeom prst="rect">
            <a:avLst/>
          </a:prstGeom>
          <a:solidFill>
            <a:srgbClr val="061226"/>
          </a:solidFill>
          <a:ln w="12700">
            <a:solidFill>
              <a:srgbClr val="061226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8595360" y="5532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enterprises operating in 3+ countries</a:t>
            </a:r>
            <a:endParaRPr lang="en-US" sz="1050" dirty="0"/>
          </a:p>
        </p:txBody>
      </p:sp>
      <p:sp>
        <p:nvSpPr>
          <p:cNvPr id="46" name="Shape 38"/>
          <p:cNvSpPr/>
          <p:nvPr/>
        </p:nvSpPr>
        <p:spPr>
          <a:xfrm>
            <a:off x="457200" y="6510528"/>
            <a:ext cx="109728" cy="10972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Security  |  Country-wise Vulnerability Separation</a:t>
            </a:r>
            <a:endParaRPr lang="en-US" sz="1000" dirty="0"/>
          </a:p>
        </p:txBody>
      </p:sp>
      <p:sp>
        <p:nvSpPr>
          <p:cNvPr id="48" name="Text 40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LOOKS LIKE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hybrid structure for 6 countries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267048" y="1463040"/>
            <a:ext cx="3657600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9928" y="16459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07128" y="1463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 Tenancy  (Organization)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095848" y="2194560"/>
            <a:ext cx="0" cy="41148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88720" y="2606040"/>
            <a:ext cx="9814255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95248" y="2606040"/>
            <a:ext cx="0" cy="22860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03708" y="2834640"/>
            <a:ext cx="1783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03708" y="2834640"/>
            <a:ext cx="1783080" cy="10972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8" y="31089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06628" y="3063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0868" y="3611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40868" y="38404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me-dubai-1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40868" y="4251960"/>
            <a:ext cx="1508760" cy="18288"/>
          </a:xfrm>
          <a:prstGeom prst="rect">
            <a:avLst/>
          </a:prstGeom>
          <a:solidFill>
            <a:srgbClr val="D6DEE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0868" y="43708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Compartments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540868" y="4663440"/>
            <a:ext cx="1508760" cy="41148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0868" y="4663440"/>
            <a:ext cx="54864" cy="4114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78028" y="4663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40868" y="5166360"/>
            <a:ext cx="1508760" cy="41148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40868" y="5166360"/>
            <a:ext cx="54864" cy="4114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78028" y="5166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40868" y="5669280"/>
            <a:ext cx="1508760" cy="41148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40868" y="5669280"/>
            <a:ext cx="54864" cy="4114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78028" y="5669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215488" y="2606040"/>
            <a:ext cx="0" cy="22860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2323948" y="2834640"/>
            <a:ext cx="1783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2323948" y="2834640"/>
            <a:ext cx="1783080" cy="10972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108" y="3108960"/>
            <a:ext cx="292608" cy="29260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2826868" y="3063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KSA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2461108" y="3611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2461108" y="38404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me-jeddah-1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2461108" y="4251960"/>
            <a:ext cx="1508760" cy="18288"/>
          </a:xfrm>
          <a:prstGeom prst="rect">
            <a:avLst/>
          </a:prstGeom>
          <a:solidFill>
            <a:srgbClr val="D6DEE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2461108" y="43708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Compartments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2461108" y="4663440"/>
            <a:ext cx="1508760" cy="41148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2461108" y="4663440"/>
            <a:ext cx="54864" cy="4114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2598268" y="4663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2461108" y="5166360"/>
            <a:ext cx="1508760" cy="41148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2461108" y="5166360"/>
            <a:ext cx="54864" cy="4114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2598268" y="5166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2461108" y="5669280"/>
            <a:ext cx="1508760" cy="41148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2461108" y="5669280"/>
            <a:ext cx="54864" cy="4114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2598268" y="5669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5135728" y="2606040"/>
            <a:ext cx="0" cy="22860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4244188" y="2834640"/>
            <a:ext cx="1783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47" name="Shape 42"/>
          <p:cNvSpPr/>
          <p:nvPr/>
        </p:nvSpPr>
        <p:spPr>
          <a:xfrm>
            <a:off x="4244188" y="2834640"/>
            <a:ext cx="1783080" cy="10972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348" y="3108960"/>
            <a:ext cx="292608" cy="292608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4747108" y="3063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</a:t>
            </a:r>
            <a:endParaRPr lang="en-US" sz="1300" dirty="0"/>
          </a:p>
        </p:txBody>
      </p:sp>
      <p:sp>
        <p:nvSpPr>
          <p:cNvPr id="50" name="Text 44"/>
          <p:cNvSpPr/>
          <p:nvPr/>
        </p:nvSpPr>
        <p:spPr>
          <a:xfrm>
            <a:off x="4381348" y="3611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850" dirty="0"/>
          </a:p>
        </p:txBody>
      </p:sp>
      <p:sp>
        <p:nvSpPr>
          <p:cNvPr id="51" name="Text 45"/>
          <p:cNvSpPr/>
          <p:nvPr/>
        </p:nvSpPr>
        <p:spPr>
          <a:xfrm>
            <a:off x="4381348" y="38404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ap-mumbai-1</a:t>
            </a:r>
            <a:endParaRPr lang="en-US" sz="900" dirty="0"/>
          </a:p>
        </p:txBody>
      </p:sp>
      <p:sp>
        <p:nvSpPr>
          <p:cNvPr id="52" name="Shape 46"/>
          <p:cNvSpPr/>
          <p:nvPr/>
        </p:nvSpPr>
        <p:spPr>
          <a:xfrm>
            <a:off x="4381348" y="4251960"/>
            <a:ext cx="1508760" cy="18288"/>
          </a:xfrm>
          <a:prstGeom prst="rect">
            <a:avLst/>
          </a:prstGeom>
          <a:solidFill>
            <a:srgbClr val="D6DEE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4381348" y="43708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Compartments</a:t>
            </a:r>
            <a:endParaRPr lang="en-US" sz="850" dirty="0"/>
          </a:p>
        </p:txBody>
      </p:sp>
      <p:sp>
        <p:nvSpPr>
          <p:cNvPr id="54" name="Shape 48"/>
          <p:cNvSpPr/>
          <p:nvPr/>
        </p:nvSpPr>
        <p:spPr>
          <a:xfrm>
            <a:off x="4381348" y="4663440"/>
            <a:ext cx="1508760" cy="41148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4381348" y="4663440"/>
            <a:ext cx="54864" cy="4114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4518508" y="4663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100" dirty="0"/>
          </a:p>
        </p:txBody>
      </p:sp>
      <p:sp>
        <p:nvSpPr>
          <p:cNvPr id="57" name="Shape 51"/>
          <p:cNvSpPr/>
          <p:nvPr/>
        </p:nvSpPr>
        <p:spPr>
          <a:xfrm>
            <a:off x="4381348" y="5166360"/>
            <a:ext cx="1508760" cy="41148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4381348" y="5166360"/>
            <a:ext cx="54864" cy="4114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4518508" y="5166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100" dirty="0"/>
          </a:p>
        </p:txBody>
      </p:sp>
      <p:sp>
        <p:nvSpPr>
          <p:cNvPr id="60" name="Shape 54"/>
          <p:cNvSpPr/>
          <p:nvPr/>
        </p:nvSpPr>
        <p:spPr>
          <a:xfrm>
            <a:off x="4381348" y="5669280"/>
            <a:ext cx="1508760" cy="41148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4381348" y="5669280"/>
            <a:ext cx="54864" cy="4114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62" name="Text 56"/>
          <p:cNvSpPr/>
          <p:nvPr/>
        </p:nvSpPr>
        <p:spPr>
          <a:xfrm>
            <a:off x="4518508" y="5669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63" name="Shape 57"/>
          <p:cNvSpPr/>
          <p:nvPr/>
        </p:nvSpPr>
        <p:spPr>
          <a:xfrm>
            <a:off x="7055968" y="2606040"/>
            <a:ext cx="0" cy="22860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6164428" y="2834640"/>
            <a:ext cx="1783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65" name="Shape 59"/>
          <p:cNvSpPr/>
          <p:nvPr/>
        </p:nvSpPr>
        <p:spPr>
          <a:xfrm>
            <a:off x="6164428" y="2834640"/>
            <a:ext cx="1783080" cy="10972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pic>
        <p:nvPicPr>
          <p:cNvPr id="6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1588" y="3108960"/>
            <a:ext cx="292608" cy="292608"/>
          </a:xfrm>
          <a:prstGeom prst="rect">
            <a:avLst/>
          </a:prstGeom>
        </p:spPr>
      </p:pic>
      <p:sp>
        <p:nvSpPr>
          <p:cNvPr id="67" name="Text 60"/>
          <p:cNvSpPr/>
          <p:nvPr/>
        </p:nvSpPr>
        <p:spPr>
          <a:xfrm>
            <a:off x="6667348" y="3063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Germany</a:t>
            </a:r>
            <a:endParaRPr lang="en-US" sz="1300" dirty="0"/>
          </a:p>
        </p:txBody>
      </p:sp>
      <p:sp>
        <p:nvSpPr>
          <p:cNvPr id="68" name="Text 61"/>
          <p:cNvSpPr/>
          <p:nvPr/>
        </p:nvSpPr>
        <p:spPr>
          <a:xfrm>
            <a:off x="6301588" y="3611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850" dirty="0"/>
          </a:p>
        </p:txBody>
      </p:sp>
      <p:sp>
        <p:nvSpPr>
          <p:cNvPr id="69" name="Text 62"/>
          <p:cNvSpPr/>
          <p:nvPr/>
        </p:nvSpPr>
        <p:spPr>
          <a:xfrm>
            <a:off x="6301588" y="38404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eu-frankfurt-1</a:t>
            </a:r>
            <a:endParaRPr lang="en-US" sz="900" dirty="0"/>
          </a:p>
        </p:txBody>
      </p:sp>
      <p:sp>
        <p:nvSpPr>
          <p:cNvPr id="70" name="Shape 63"/>
          <p:cNvSpPr/>
          <p:nvPr/>
        </p:nvSpPr>
        <p:spPr>
          <a:xfrm>
            <a:off x="6301588" y="4251960"/>
            <a:ext cx="1508760" cy="18288"/>
          </a:xfrm>
          <a:prstGeom prst="rect">
            <a:avLst/>
          </a:prstGeom>
          <a:solidFill>
            <a:srgbClr val="D6DEE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71" name="Text 64"/>
          <p:cNvSpPr/>
          <p:nvPr/>
        </p:nvSpPr>
        <p:spPr>
          <a:xfrm>
            <a:off x="6301588" y="43708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Compartments</a:t>
            </a:r>
            <a:endParaRPr lang="en-US" sz="850" dirty="0"/>
          </a:p>
        </p:txBody>
      </p:sp>
      <p:sp>
        <p:nvSpPr>
          <p:cNvPr id="72" name="Shape 65"/>
          <p:cNvSpPr/>
          <p:nvPr/>
        </p:nvSpPr>
        <p:spPr>
          <a:xfrm>
            <a:off x="6301588" y="4663440"/>
            <a:ext cx="1508760" cy="41148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73" name="Shape 66"/>
          <p:cNvSpPr/>
          <p:nvPr/>
        </p:nvSpPr>
        <p:spPr>
          <a:xfrm>
            <a:off x="6301588" y="4663440"/>
            <a:ext cx="54864" cy="4114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74" name="Text 67"/>
          <p:cNvSpPr/>
          <p:nvPr/>
        </p:nvSpPr>
        <p:spPr>
          <a:xfrm>
            <a:off x="6438748" y="4663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100" dirty="0"/>
          </a:p>
        </p:txBody>
      </p:sp>
      <p:sp>
        <p:nvSpPr>
          <p:cNvPr id="75" name="Shape 68"/>
          <p:cNvSpPr/>
          <p:nvPr/>
        </p:nvSpPr>
        <p:spPr>
          <a:xfrm>
            <a:off x="6301588" y="5166360"/>
            <a:ext cx="1508760" cy="41148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76" name="Shape 69"/>
          <p:cNvSpPr/>
          <p:nvPr/>
        </p:nvSpPr>
        <p:spPr>
          <a:xfrm>
            <a:off x="6301588" y="5166360"/>
            <a:ext cx="54864" cy="4114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77" name="Text 70"/>
          <p:cNvSpPr/>
          <p:nvPr/>
        </p:nvSpPr>
        <p:spPr>
          <a:xfrm>
            <a:off x="6438748" y="5166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100" dirty="0"/>
          </a:p>
        </p:txBody>
      </p:sp>
      <p:sp>
        <p:nvSpPr>
          <p:cNvPr id="78" name="Shape 71"/>
          <p:cNvSpPr/>
          <p:nvPr/>
        </p:nvSpPr>
        <p:spPr>
          <a:xfrm>
            <a:off x="6301588" y="5669280"/>
            <a:ext cx="1508760" cy="41148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79" name="Shape 72"/>
          <p:cNvSpPr/>
          <p:nvPr/>
        </p:nvSpPr>
        <p:spPr>
          <a:xfrm>
            <a:off x="6301588" y="5669280"/>
            <a:ext cx="54864" cy="4114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80" name="Text 73"/>
          <p:cNvSpPr/>
          <p:nvPr/>
        </p:nvSpPr>
        <p:spPr>
          <a:xfrm>
            <a:off x="6438748" y="5669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81" name="Shape 74"/>
          <p:cNvSpPr/>
          <p:nvPr/>
        </p:nvSpPr>
        <p:spPr>
          <a:xfrm>
            <a:off x="8976208" y="2606040"/>
            <a:ext cx="0" cy="22860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82" name="Shape 75"/>
          <p:cNvSpPr/>
          <p:nvPr/>
        </p:nvSpPr>
        <p:spPr>
          <a:xfrm>
            <a:off x="8084668" y="2834640"/>
            <a:ext cx="1783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83" name="Shape 76"/>
          <p:cNvSpPr/>
          <p:nvPr/>
        </p:nvSpPr>
        <p:spPr>
          <a:xfrm>
            <a:off x="8084668" y="2834640"/>
            <a:ext cx="1783080" cy="10972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pic>
        <p:nvPicPr>
          <p:cNvPr id="8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1828" y="3108960"/>
            <a:ext cx="292608" cy="292608"/>
          </a:xfrm>
          <a:prstGeom prst="rect">
            <a:avLst/>
          </a:prstGeom>
        </p:spPr>
      </p:pic>
      <p:sp>
        <p:nvSpPr>
          <p:cNvPr id="85" name="Text 77"/>
          <p:cNvSpPr/>
          <p:nvPr/>
        </p:nvSpPr>
        <p:spPr>
          <a:xfrm>
            <a:off x="8587588" y="3063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France</a:t>
            </a:r>
            <a:endParaRPr lang="en-US" sz="1300" dirty="0"/>
          </a:p>
        </p:txBody>
      </p:sp>
      <p:sp>
        <p:nvSpPr>
          <p:cNvPr id="86" name="Text 78"/>
          <p:cNvSpPr/>
          <p:nvPr/>
        </p:nvSpPr>
        <p:spPr>
          <a:xfrm>
            <a:off x="8221828" y="3611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850" dirty="0"/>
          </a:p>
        </p:txBody>
      </p:sp>
      <p:sp>
        <p:nvSpPr>
          <p:cNvPr id="87" name="Text 79"/>
          <p:cNvSpPr/>
          <p:nvPr/>
        </p:nvSpPr>
        <p:spPr>
          <a:xfrm>
            <a:off x="8221828" y="38404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eu-marseille-1</a:t>
            </a:r>
            <a:endParaRPr lang="en-US" sz="900" dirty="0"/>
          </a:p>
        </p:txBody>
      </p:sp>
      <p:sp>
        <p:nvSpPr>
          <p:cNvPr id="88" name="Shape 80"/>
          <p:cNvSpPr/>
          <p:nvPr/>
        </p:nvSpPr>
        <p:spPr>
          <a:xfrm>
            <a:off x="8221828" y="4251960"/>
            <a:ext cx="1508760" cy="18288"/>
          </a:xfrm>
          <a:prstGeom prst="rect">
            <a:avLst/>
          </a:prstGeom>
          <a:solidFill>
            <a:srgbClr val="D6DEE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89" name="Text 81"/>
          <p:cNvSpPr/>
          <p:nvPr/>
        </p:nvSpPr>
        <p:spPr>
          <a:xfrm>
            <a:off x="8221828" y="43708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Compartments</a:t>
            </a:r>
            <a:endParaRPr lang="en-US" sz="850" dirty="0"/>
          </a:p>
        </p:txBody>
      </p:sp>
      <p:sp>
        <p:nvSpPr>
          <p:cNvPr id="90" name="Shape 82"/>
          <p:cNvSpPr/>
          <p:nvPr/>
        </p:nvSpPr>
        <p:spPr>
          <a:xfrm>
            <a:off x="8221828" y="4663440"/>
            <a:ext cx="1508760" cy="41148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91" name="Shape 83"/>
          <p:cNvSpPr/>
          <p:nvPr/>
        </p:nvSpPr>
        <p:spPr>
          <a:xfrm>
            <a:off x="8221828" y="4663440"/>
            <a:ext cx="54864" cy="4114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92" name="Text 84"/>
          <p:cNvSpPr/>
          <p:nvPr/>
        </p:nvSpPr>
        <p:spPr>
          <a:xfrm>
            <a:off x="8358988" y="4663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100" dirty="0"/>
          </a:p>
        </p:txBody>
      </p:sp>
      <p:sp>
        <p:nvSpPr>
          <p:cNvPr id="93" name="Shape 85"/>
          <p:cNvSpPr/>
          <p:nvPr/>
        </p:nvSpPr>
        <p:spPr>
          <a:xfrm>
            <a:off x="8221828" y="5166360"/>
            <a:ext cx="1508760" cy="41148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94" name="Shape 86"/>
          <p:cNvSpPr/>
          <p:nvPr/>
        </p:nvSpPr>
        <p:spPr>
          <a:xfrm>
            <a:off x="8221828" y="5166360"/>
            <a:ext cx="54864" cy="4114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95" name="Text 87"/>
          <p:cNvSpPr/>
          <p:nvPr/>
        </p:nvSpPr>
        <p:spPr>
          <a:xfrm>
            <a:off x="8358988" y="5166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100" dirty="0"/>
          </a:p>
        </p:txBody>
      </p:sp>
      <p:sp>
        <p:nvSpPr>
          <p:cNvPr id="96" name="Shape 88"/>
          <p:cNvSpPr/>
          <p:nvPr/>
        </p:nvSpPr>
        <p:spPr>
          <a:xfrm>
            <a:off x="8221828" y="5669280"/>
            <a:ext cx="1508760" cy="41148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97" name="Shape 89"/>
          <p:cNvSpPr/>
          <p:nvPr/>
        </p:nvSpPr>
        <p:spPr>
          <a:xfrm>
            <a:off x="8221828" y="5669280"/>
            <a:ext cx="54864" cy="4114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98" name="Text 90"/>
          <p:cNvSpPr/>
          <p:nvPr/>
        </p:nvSpPr>
        <p:spPr>
          <a:xfrm>
            <a:off x="8358988" y="5669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99" name="Shape 91"/>
          <p:cNvSpPr/>
          <p:nvPr/>
        </p:nvSpPr>
        <p:spPr>
          <a:xfrm>
            <a:off x="10896448" y="2606040"/>
            <a:ext cx="0" cy="22860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00" name="Shape 92"/>
          <p:cNvSpPr/>
          <p:nvPr/>
        </p:nvSpPr>
        <p:spPr>
          <a:xfrm>
            <a:off x="10004908" y="2834640"/>
            <a:ext cx="1783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01" name="Shape 93"/>
          <p:cNvSpPr/>
          <p:nvPr/>
        </p:nvSpPr>
        <p:spPr>
          <a:xfrm>
            <a:off x="10004908" y="2834640"/>
            <a:ext cx="1783080" cy="10972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pic>
        <p:nvPicPr>
          <p:cNvPr id="10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2068" y="3108960"/>
            <a:ext cx="292608" cy="292608"/>
          </a:xfrm>
          <a:prstGeom prst="rect">
            <a:avLst/>
          </a:prstGeom>
        </p:spPr>
      </p:pic>
      <p:sp>
        <p:nvSpPr>
          <p:cNvPr id="103" name="Text 94"/>
          <p:cNvSpPr/>
          <p:nvPr/>
        </p:nvSpPr>
        <p:spPr>
          <a:xfrm>
            <a:off x="10507828" y="3063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UK</a:t>
            </a:r>
            <a:endParaRPr lang="en-US" sz="1300" dirty="0"/>
          </a:p>
        </p:txBody>
      </p:sp>
      <p:sp>
        <p:nvSpPr>
          <p:cNvPr id="104" name="Text 95"/>
          <p:cNvSpPr/>
          <p:nvPr/>
        </p:nvSpPr>
        <p:spPr>
          <a:xfrm>
            <a:off x="10142068" y="3611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850" dirty="0"/>
          </a:p>
        </p:txBody>
      </p:sp>
      <p:sp>
        <p:nvSpPr>
          <p:cNvPr id="105" name="Text 96"/>
          <p:cNvSpPr/>
          <p:nvPr/>
        </p:nvSpPr>
        <p:spPr>
          <a:xfrm>
            <a:off x="10142068" y="38404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uk-london-1</a:t>
            </a:r>
            <a:endParaRPr lang="en-US" sz="900" dirty="0"/>
          </a:p>
        </p:txBody>
      </p:sp>
      <p:sp>
        <p:nvSpPr>
          <p:cNvPr id="106" name="Shape 97"/>
          <p:cNvSpPr/>
          <p:nvPr/>
        </p:nvSpPr>
        <p:spPr>
          <a:xfrm>
            <a:off x="10142068" y="4251960"/>
            <a:ext cx="1508760" cy="18288"/>
          </a:xfrm>
          <a:prstGeom prst="rect">
            <a:avLst/>
          </a:prstGeom>
          <a:solidFill>
            <a:srgbClr val="D6DEE8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07" name="Text 98"/>
          <p:cNvSpPr/>
          <p:nvPr/>
        </p:nvSpPr>
        <p:spPr>
          <a:xfrm>
            <a:off x="10142068" y="43708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Compartments</a:t>
            </a:r>
            <a:endParaRPr lang="en-US" sz="850" dirty="0"/>
          </a:p>
        </p:txBody>
      </p:sp>
      <p:sp>
        <p:nvSpPr>
          <p:cNvPr id="108" name="Shape 99"/>
          <p:cNvSpPr/>
          <p:nvPr/>
        </p:nvSpPr>
        <p:spPr>
          <a:xfrm>
            <a:off x="10142068" y="4663440"/>
            <a:ext cx="1508760" cy="41148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09" name="Shape 100"/>
          <p:cNvSpPr/>
          <p:nvPr/>
        </p:nvSpPr>
        <p:spPr>
          <a:xfrm>
            <a:off x="10142068" y="4663440"/>
            <a:ext cx="54864" cy="4114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0" name="Text 101"/>
          <p:cNvSpPr/>
          <p:nvPr/>
        </p:nvSpPr>
        <p:spPr>
          <a:xfrm>
            <a:off x="10279228" y="4663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100" dirty="0"/>
          </a:p>
        </p:txBody>
      </p:sp>
      <p:sp>
        <p:nvSpPr>
          <p:cNvPr id="111" name="Shape 102"/>
          <p:cNvSpPr/>
          <p:nvPr/>
        </p:nvSpPr>
        <p:spPr>
          <a:xfrm>
            <a:off x="10142068" y="5166360"/>
            <a:ext cx="1508760" cy="41148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12" name="Shape 103"/>
          <p:cNvSpPr/>
          <p:nvPr/>
        </p:nvSpPr>
        <p:spPr>
          <a:xfrm>
            <a:off x="10142068" y="5166360"/>
            <a:ext cx="54864" cy="4114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3" name="Text 104"/>
          <p:cNvSpPr/>
          <p:nvPr/>
        </p:nvSpPr>
        <p:spPr>
          <a:xfrm>
            <a:off x="10279228" y="5166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100" dirty="0"/>
          </a:p>
        </p:txBody>
      </p:sp>
      <p:sp>
        <p:nvSpPr>
          <p:cNvPr id="114" name="Shape 105"/>
          <p:cNvSpPr/>
          <p:nvPr/>
        </p:nvSpPr>
        <p:spPr>
          <a:xfrm>
            <a:off x="10142068" y="5669280"/>
            <a:ext cx="1508760" cy="41148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15" name="Shape 106"/>
          <p:cNvSpPr/>
          <p:nvPr/>
        </p:nvSpPr>
        <p:spPr>
          <a:xfrm>
            <a:off x="10142068" y="5669280"/>
            <a:ext cx="54864" cy="4114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6" name="Text 107"/>
          <p:cNvSpPr/>
          <p:nvPr/>
        </p:nvSpPr>
        <p:spPr>
          <a:xfrm>
            <a:off x="10279228" y="5669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117" name="Shape 108"/>
          <p:cNvSpPr/>
          <p:nvPr/>
        </p:nvSpPr>
        <p:spPr>
          <a:xfrm>
            <a:off x="457200" y="6510528"/>
            <a:ext cx="109728" cy="10972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8" name="Text 109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Security  |  Country-wise Vulnerability Separation</a:t>
            </a:r>
            <a:endParaRPr lang="en-US" sz="1000" dirty="0"/>
          </a:p>
        </p:txBody>
      </p:sp>
      <p:sp>
        <p:nvSpPr>
          <p:cNvPr id="119" name="Text 110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TECHNICAL VIEW  ·  IDENTITY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IAM architecture: how identity is partitioned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OCI components: Identity Domains, Compartments, Groups, Policies — scoped per country.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77295" cy="4572000"/>
          </a:xfrm>
          <a:prstGeom prst="rect">
            <a:avLst/>
          </a:prstGeom>
          <a:solidFill>
            <a:srgbClr val="F5F7FB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11277295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1051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Tenancy  (OCI Organization)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19695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A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OCID: ocid1.tenancy.oc1..&lt;unique&gt;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2331720"/>
            <a:ext cx="3454298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7463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2331720"/>
            <a:ext cx="3454298" cy="36576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404872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43000" y="2377440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Compartment: UAE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68680" y="2834640"/>
            <a:ext cx="3179978" cy="822960"/>
          </a:xfrm>
          <a:prstGeom prst="rect">
            <a:avLst/>
          </a:prstGeom>
          <a:solidFill>
            <a:srgbClr val="061226"/>
          </a:solidFill>
          <a:ln w="12700">
            <a:solidFill>
              <a:srgbClr val="06122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9718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2880360"/>
            <a:ext cx="2722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Domain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914400" y="324612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UAE-IdentityDomain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868680" y="3749040"/>
            <a:ext cx="3179978" cy="105156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60120" y="3822192"/>
            <a:ext cx="29970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60120" y="4041648"/>
            <a:ext cx="29970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UAE-SecOps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960120" y="4270248"/>
            <a:ext cx="29970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UAE-CloudAdmins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960120" y="4498848"/>
            <a:ext cx="29970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UAE-Auditors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868680" y="4892040"/>
            <a:ext cx="3179978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74634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60120" y="4937760"/>
            <a:ext cx="29970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POLICIES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914400" y="5148072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 UAE-SecOps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 manage vss-family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 compartment UAE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4368698" y="2331720"/>
            <a:ext cx="3454298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74634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368698" y="2331720"/>
            <a:ext cx="3454298" cy="36576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426" y="2404872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780178" y="2377440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Compartment: KSA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505858" y="2834640"/>
            <a:ext cx="3179978" cy="822960"/>
          </a:xfrm>
          <a:prstGeom prst="rect">
            <a:avLst/>
          </a:prstGeom>
          <a:solidFill>
            <a:srgbClr val="061226"/>
          </a:solidFill>
          <a:ln w="12700">
            <a:solidFill>
              <a:srgbClr val="061226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018" y="297180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963058" y="2880360"/>
            <a:ext cx="2722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Domain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4551578" y="324612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KSA-IdentityDomain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4505858" y="3749040"/>
            <a:ext cx="3179978" cy="105156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4597298" y="3822192"/>
            <a:ext cx="29970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4597298" y="4041648"/>
            <a:ext cx="29970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KSA-SecOps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4597298" y="4270248"/>
            <a:ext cx="29970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KSA-CloudAdmins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4597298" y="4498848"/>
            <a:ext cx="29970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KSA-Auditors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4505858" y="4892040"/>
            <a:ext cx="3179978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74634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4597298" y="4937760"/>
            <a:ext cx="29970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POLICIES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4551578" y="5148072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 KSA-SecOps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 manage vss-family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 compartment KSA</a:t>
            </a:r>
            <a:endParaRPr lang="en-US" sz="850" dirty="0"/>
          </a:p>
        </p:txBody>
      </p:sp>
      <p:sp>
        <p:nvSpPr>
          <p:cNvPr id="42" name="Shape 35"/>
          <p:cNvSpPr/>
          <p:nvPr/>
        </p:nvSpPr>
        <p:spPr>
          <a:xfrm>
            <a:off x="8005877" y="2331720"/>
            <a:ext cx="3454298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C74634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8005877" y="2331720"/>
            <a:ext cx="3454298" cy="36576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5605" y="2404872"/>
            <a:ext cx="228600" cy="22860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8417357" y="2377440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Compartment: India</a:t>
            </a:r>
            <a:endParaRPr lang="en-US" sz="1200" dirty="0"/>
          </a:p>
        </p:txBody>
      </p:sp>
      <p:sp>
        <p:nvSpPr>
          <p:cNvPr id="46" name="Shape 38"/>
          <p:cNvSpPr/>
          <p:nvPr/>
        </p:nvSpPr>
        <p:spPr>
          <a:xfrm>
            <a:off x="8143037" y="2834640"/>
            <a:ext cx="3179978" cy="822960"/>
          </a:xfrm>
          <a:prstGeom prst="rect">
            <a:avLst/>
          </a:prstGeom>
          <a:solidFill>
            <a:srgbClr val="061226"/>
          </a:solidFill>
          <a:ln w="12700">
            <a:solidFill>
              <a:srgbClr val="061226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0197" y="2971800"/>
            <a:ext cx="274320" cy="27432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8600237" y="2880360"/>
            <a:ext cx="2722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Domain</a:t>
            </a:r>
            <a:endParaRPr lang="en-US" sz="1000" dirty="0"/>
          </a:p>
        </p:txBody>
      </p:sp>
      <p:sp>
        <p:nvSpPr>
          <p:cNvPr id="49" name="Text 40"/>
          <p:cNvSpPr/>
          <p:nvPr/>
        </p:nvSpPr>
        <p:spPr>
          <a:xfrm>
            <a:off x="8188757" y="3246120"/>
            <a:ext cx="30885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India-IdentityDomain</a:t>
            </a:r>
            <a:endParaRPr lang="en-US" sz="1000" dirty="0"/>
          </a:p>
        </p:txBody>
      </p:sp>
      <p:sp>
        <p:nvSpPr>
          <p:cNvPr id="50" name="Shape 41"/>
          <p:cNvSpPr/>
          <p:nvPr/>
        </p:nvSpPr>
        <p:spPr>
          <a:xfrm>
            <a:off x="8143037" y="3749040"/>
            <a:ext cx="3179978" cy="105156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8234477" y="3822192"/>
            <a:ext cx="29970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900" dirty="0"/>
          </a:p>
        </p:txBody>
      </p:sp>
      <p:sp>
        <p:nvSpPr>
          <p:cNvPr id="52" name="Text 43"/>
          <p:cNvSpPr/>
          <p:nvPr/>
        </p:nvSpPr>
        <p:spPr>
          <a:xfrm>
            <a:off x="8234477" y="4041648"/>
            <a:ext cx="29970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India-SecOps</a:t>
            </a:r>
            <a:endParaRPr lang="en-US" sz="1000" dirty="0"/>
          </a:p>
        </p:txBody>
      </p:sp>
      <p:sp>
        <p:nvSpPr>
          <p:cNvPr id="53" name="Text 44"/>
          <p:cNvSpPr/>
          <p:nvPr/>
        </p:nvSpPr>
        <p:spPr>
          <a:xfrm>
            <a:off x="8234477" y="4270248"/>
            <a:ext cx="29970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India-CloudAdmins</a:t>
            </a:r>
            <a:endParaRPr lang="en-US" sz="1000" dirty="0"/>
          </a:p>
        </p:txBody>
      </p:sp>
      <p:sp>
        <p:nvSpPr>
          <p:cNvPr id="54" name="Text 45"/>
          <p:cNvSpPr/>
          <p:nvPr/>
        </p:nvSpPr>
        <p:spPr>
          <a:xfrm>
            <a:off x="8234477" y="4498848"/>
            <a:ext cx="29970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India-Auditors</a:t>
            </a:r>
            <a:endParaRPr lang="en-US" sz="1000" dirty="0"/>
          </a:p>
        </p:txBody>
      </p:sp>
      <p:sp>
        <p:nvSpPr>
          <p:cNvPr id="55" name="Shape 46"/>
          <p:cNvSpPr/>
          <p:nvPr/>
        </p:nvSpPr>
        <p:spPr>
          <a:xfrm>
            <a:off x="8143037" y="4892040"/>
            <a:ext cx="3179978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C74634"/>
            </a:solidFill>
            <a:prstDash val="solid"/>
          </a:ln>
        </p:spPr>
      </p:sp>
      <p:sp>
        <p:nvSpPr>
          <p:cNvPr id="56" name="Text 47"/>
          <p:cNvSpPr/>
          <p:nvPr/>
        </p:nvSpPr>
        <p:spPr>
          <a:xfrm>
            <a:off x="8234477" y="4937760"/>
            <a:ext cx="29970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POLICIES</a:t>
            </a:r>
            <a:endParaRPr lang="en-US" sz="900" dirty="0"/>
          </a:p>
        </p:txBody>
      </p:sp>
      <p:sp>
        <p:nvSpPr>
          <p:cNvPr id="57" name="Text 48"/>
          <p:cNvSpPr/>
          <p:nvPr/>
        </p:nvSpPr>
        <p:spPr>
          <a:xfrm>
            <a:off x="8188757" y="5148072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 India-SecOps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 manage vss-family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 compartment India</a:t>
            </a:r>
            <a:endParaRPr lang="en-US" sz="850" dirty="0"/>
          </a:p>
        </p:txBody>
      </p:sp>
      <p:sp>
        <p:nvSpPr>
          <p:cNvPr id="58" name="Shape 49"/>
          <p:cNvSpPr/>
          <p:nvPr/>
        </p:nvSpPr>
        <p:spPr>
          <a:xfrm>
            <a:off x="731520" y="5897880"/>
            <a:ext cx="10728655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9" name="Text 50"/>
          <p:cNvSpPr/>
          <p:nvPr/>
        </p:nvSpPr>
        <p:spPr>
          <a:xfrm>
            <a:off x="822960" y="589788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Cross-country access is blocked by default — no policy = no visibility. Policies live inside each country's compartment.</a:t>
            </a:r>
            <a:endParaRPr lang="en-US" sz="1000" dirty="0"/>
          </a:p>
        </p:txBody>
      </p:sp>
      <p:sp>
        <p:nvSpPr>
          <p:cNvPr id="60" name="Shape 51"/>
          <p:cNvSpPr/>
          <p:nvPr/>
        </p:nvSpPr>
        <p:spPr>
          <a:xfrm>
            <a:off x="457200" y="6510528"/>
            <a:ext cx="109728" cy="10972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61" name="Text 52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Security  |  Country-wise Vulnerability Separation</a:t>
            </a:r>
            <a:endParaRPr lang="en-US" sz="1000" dirty="0"/>
          </a:p>
        </p:txBody>
      </p:sp>
      <p:sp>
        <p:nvSpPr>
          <p:cNvPr id="62" name="Text 53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TECHNICAL VIEW  ·  NETWORK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architecture inside one country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country runs a self-contained VCN with public/private subnets, gateways, and security controls.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046720" cy="4572000"/>
          </a:xfrm>
          <a:prstGeom prst="rect">
            <a:avLst/>
          </a:prstGeom>
          <a:solidFill>
            <a:srgbClr val="F9FAFC"/>
          </a:solidFill>
          <a:ln w="19050">
            <a:solidFill>
              <a:srgbClr val="0B1F3A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40080" y="18562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me-dubai-1  |  Availability Domain: AD-1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874520"/>
            <a:ext cx="274320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2240280"/>
            <a:ext cx="749808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7463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240280"/>
            <a:ext cx="7498080" cy="34747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04288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2860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VCN: uae-prod-vcn   CIDR: 10.10.0.0/16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914400" y="2743200"/>
            <a:ext cx="1645920" cy="822960"/>
          </a:xfrm>
          <a:prstGeom prst="rect">
            <a:avLst/>
          </a:prstGeom>
          <a:solidFill>
            <a:srgbClr val="F5F7FB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14400" y="2743200"/>
            <a:ext cx="320040" cy="8229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14400" y="28803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IGW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280160" y="2816352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697480" y="2743200"/>
            <a:ext cx="1645920" cy="822960"/>
          </a:xfrm>
          <a:prstGeom prst="rect">
            <a:avLst/>
          </a:prstGeom>
          <a:solidFill>
            <a:srgbClr val="F5F7FB"/>
          </a:solidFill>
          <a:ln w="19050">
            <a:solidFill>
              <a:srgbClr val="4A90C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697480" y="2743200"/>
            <a:ext cx="320040" cy="82296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697480" y="28803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063240" y="2816352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480560" y="2743200"/>
            <a:ext cx="1645920" cy="822960"/>
          </a:xfrm>
          <a:prstGeom prst="rect">
            <a:avLst/>
          </a:prstGeom>
          <a:solidFill>
            <a:srgbClr val="F5F7FB"/>
          </a:solidFill>
          <a:ln w="19050">
            <a:solidFill>
              <a:srgbClr val="F2B70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480560" y="2743200"/>
            <a:ext cx="320040" cy="822960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480560" y="28803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SGW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846320" y="2816352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263640" y="2743200"/>
            <a:ext cx="1645920" cy="822960"/>
          </a:xfrm>
          <a:prstGeom prst="rect">
            <a:avLst/>
          </a:prstGeom>
          <a:solidFill>
            <a:srgbClr val="F5F7FB"/>
          </a:solidFill>
          <a:ln w="19050">
            <a:solidFill>
              <a:srgbClr val="C7463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263640" y="2743200"/>
            <a:ext cx="320040" cy="82296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263640" y="28803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DRG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629400" y="2816352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Routing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914400" y="3794760"/>
            <a:ext cx="3474720" cy="1188720"/>
          </a:xfrm>
          <a:prstGeom prst="rect">
            <a:avLst/>
          </a:prstGeom>
          <a:solidFill>
            <a:srgbClr val="E8F4FD"/>
          </a:solidFill>
          <a:ln w="15875">
            <a:solidFill>
              <a:srgbClr val="4A90C2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005840" y="38679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Subnet  ·  10.10.1.0/24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1005840" y="4178808"/>
            <a:ext cx="15087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4A90C2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51960"/>
            <a:ext cx="320040" cy="32004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051560" y="46177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2651760" y="4178808"/>
            <a:ext cx="15087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4A90C2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4251960"/>
            <a:ext cx="320040" cy="32004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2697480" y="46177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4572000" y="3794760"/>
            <a:ext cx="3474720" cy="1188720"/>
          </a:xfrm>
          <a:prstGeom prst="rect">
            <a:avLst/>
          </a:prstGeom>
          <a:solidFill>
            <a:srgbClr val="FEF3F2"/>
          </a:solidFill>
          <a:ln w="15875">
            <a:solidFill>
              <a:srgbClr val="C74634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663440" y="38679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Subnet  ·  10.10.2.0/24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4663440" y="4178808"/>
            <a:ext cx="15087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4634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4251960"/>
            <a:ext cx="320040" cy="32004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4709160" y="46177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Compute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6309360" y="4178808"/>
            <a:ext cx="15087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4634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4251960"/>
            <a:ext cx="320040" cy="32004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355080" y="46177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System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914400" y="5120640"/>
            <a:ext cx="2225040" cy="502920"/>
          </a:xfrm>
          <a:prstGeom prst="rect">
            <a:avLst/>
          </a:prstGeom>
          <a:solidFill>
            <a:srgbClr val="061226"/>
          </a:solidFill>
          <a:ln w="12700">
            <a:solidFill>
              <a:srgbClr val="061226"/>
            </a:solidFill>
            <a:prstDash val="solid"/>
          </a:ln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" y="5230368"/>
            <a:ext cx="274320" cy="27432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371600" y="5148072"/>
            <a:ext cx="176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Lists / NSGs</a:t>
            </a:r>
            <a:endParaRPr lang="en-US" sz="1000" dirty="0"/>
          </a:p>
        </p:txBody>
      </p:sp>
      <p:sp>
        <p:nvSpPr>
          <p:cNvPr id="47" name="Text 38"/>
          <p:cNvSpPr/>
          <p:nvPr/>
        </p:nvSpPr>
        <p:spPr>
          <a:xfrm>
            <a:off x="1371600" y="5376672"/>
            <a:ext cx="176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rules per subnet/resource</a:t>
            </a:r>
            <a:endParaRPr lang="en-US" sz="850" dirty="0"/>
          </a:p>
        </p:txBody>
      </p:sp>
      <p:sp>
        <p:nvSpPr>
          <p:cNvPr id="48" name="Shape 39"/>
          <p:cNvSpPr/>
          <p:nvPr/>
        </p:nvSpPr>
        <p:spPr>
          <a:xfrm>
            <a:off x="3322320" y="5120640"/>
            <a:ext cx="2225040" cy="502920"/>
          </a:xfrm>
          <a:prstGeom prst="rect">
            <a:avLst/>
          </a:prstGeom>
          <a:solidFill>
            <a:srgbClr val="061226"/>
          </a:solidFill>
          <a:ln w="12700">
            <a:solidFill>
              <a:srgbClr val="061226"/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2048" y="5230368"/>
            <a:ext cx="274320" cy="274320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3779520" y="5148072"/>
            <a:ext cx="176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Tables</a:t>
            </a:r>
            <a:endParaRPr lang="en-US" sz="1000" dirty="0"/>
          </a:p>
        </p:txBody>
      </p:sp>
      <p:sp>
        <p:nvSpPr>
          <p:cNvPr id="51" name="Text 41"/>
          <p:cNvSpPr/>
          <p:nvPr/>
        </p:nvSpPr>
        <p:spPr>
          <a:xfrm>
            <a:off x="3779520" y="5376672"/>
            <a:ext cx="176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Per-subnet routing to gateways</a:t>
            </a:r>
            <a:endParaRPr lang="en-US" sz="850" dirty="0"/>
          </a:p>
        </p:txBody>
      </p:sp>
      <p:sp>
        <p:nvSpPr>
          <p:cNvPr id="52" name="Shape 42"/>
          <p:cNvSpPr/>
          <p:nvPr/>
        </p:nvSpPr>
        <p:spPr>
          <a:xfrm>
            <a:off x="5730240" y="5120640"/>
            <a:ext cx="2225040" cy="502920"/>
          </a:xfrm>
          <a:prstGeom prst="rect">
            <a:avLst/>
          </a:prstGeom>
          <a:solidFill>
            <a:srgbClr val="061226"/>
          </a:solidFill>
          <a:ln w="12700">
            <a:solidFill>
              <a:srgbClr val="061226"/>
            </a:solidFill>
            <a:prstDash val="solid"/>
          </a:ln>
        </p:spPr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39968" y="5230368"/>
            <a:ext cx="274320" cy="274320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6187440" y="5148072"/>
            <a:ext cx="176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+ Cloud Guard</a:t>
            </a:r>
            <a:endParaRPr lang="en-US" sz="1000" dirty="0"/>
          </a:p>
        </p:txBody>
      </p:sp>
      <p:sp>
        <p:nvSpPr>
          <p:cNvPr id="55" name="Text 44"/>
          <p:cNvSpPr/>
          <p:nvPr/>
        </p:nvSpPr>
        <p:spPr>
          <a:xfrm>
            <a:off x="6187440" y="5376672"/>
            <a:ext cx="176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 protection + posture detection</a:t>
            </a:r>
            <a:endParaRPr lang="en-US" sz="850" dirty="0"/>
          </a:p>
        </p:txBody>
      </p:sp>
      <p:sp>
        <p:nvSpPr>
          <p:cNvPr id="56" name="Shape 45"/>
          <p:cNvSpPr/>
          <p:nvPr/>
        </p:nvSpPr>
        <p:spPr>
          <a:xfrm>
            <a:off x="8686800" y="1783080"/>
            <a:ext cx="3017520" cy="4572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886968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7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Per-country isolation</a:t>
            </a:r>
            <a:endParaRPr lang="en-US" sz="1400" dirty="0"/>
          </a:p>
        </p:txBody>
      </p:sp>
      <p:sp>
        <p:nvSpPr>
          <p:cNvPr id="58" name="Shape 47"/>
          <p:cNvSpPr/>
          <p:nvPr/>
        </p:nvSpPr>
        <p:spPr>
          <a:xfrm>
            <a:off x="8869680" y="2423160"/>
            <a:ext cx="457200" cy="2743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pic>
        <p:nvPicPr>
          <p:cNvPr id="5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69680" y="2651760"/>
            <a:ext cx="228600" cy="228600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9189720" y="26334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VCN per country</a:t>
            </a:r>
            <a:endParaRPr lang="en-US" sz="1100" dirty="0"/>
          </a:p>
        </p:txBody>
      </p:sp>
      <p:pic>
        <p:nvPicPr>
          <p:cNvPr id="6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69680" y="3154680"/>
            <a:ext cx="228600" cy="228600"/>
          </a:xfrm>
          <a:prstGeom prst="rect">
            <a:avLst/>
          </a:prstGeom>
        </p:spPr>
      </p:pic>
      <p:sp>
        <p:nvSpPr>
          <p:cNvPr id="62" name="Text 49"/>
          <p:cNvSpPr/>
          <p:nvPr/>
        </p:nvSpPr>
        <p:spPr>
          <a:xfrm>
            <a:off x="9189720" y="31363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Country-specific CIDR blocks</a:t>
            </a:r>
            <a:endParaRPr lang="en-US" sz="1100" dirty="0"/>
          </a:p>
        </p:txBody>
      </p:sp>
      <p:pic>
        <p:nvPicPr>
          <p:cNvPr id="6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69680" y="3657600"/>
            <a:ext cx="228600" cy="228600"/>
          </a:xfrm>
          <a:prstGeom prst="rect">
            <a:avLst/>
          </a:prstGeom>
        </p:spPr>
      </p:pic>
      <p:sp>
        <p:nvSpPr>
          <p:cNvPr id="64" name="Text 50"/>
          <p:cNvSpPr/>
          <p:nvPr/>
        </p:nvSpPr>
        <p:spPr>
          <a:xfrm>
            <a:off x="9189720" y="36393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= data residency</a:t>
            </a:r>
            <a:endParaRPr lang="en-US" sz="1100" dirty="0"/>
          </a:p>
        </p:txBody>
      </p:sp>
      <p:pic>
        <p:nvPicPr>
          <p:cNvPr id="6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69680" y="4160520"/>
            <a:ext cx="228600" cy="228600"/>
          </a:xfrm>
          <a:prstGeom prst="rect">
            <a:avLst/>
          </a:prstGeom>
        </p:spPr>
      </p:pic>
      <p:sp>
        <p:nvSpPr>
          <p:cNvPr id="66" name="Text 51"/>
          <p:cNvSpPr/>
          <p:nvPr/>
        </p:nvSpPr>
        <p:spPr>
          <a:xfrm>
            <a:off x="9189720" y="41422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peering across countries by default</a:t>
            </a:r>
            <a:endParaRPr lang="en-US" sz="1100" dirty="0"/>
          </a:p>
        </p:txBody>
      </p:sp>
      <p:pic>
        <p:nvPicPr>
          <p:cNvPr id="6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69680" y="4663440"/>
            <a:ext cx="228600" cy="228600"/>
          </a:xfrm>
          <a:prstGeom prst="rect">
            <a:avLst/>
          </a:prstGeom>
        </p:spPr>
      </p:pic>
      <p:sp>
        <p:nvSpPr>
          <p:cNvPr id="68" name="Text 52"/>
          <p:cNvSpPr/>
          <p:nvPr/>
        </p:nvSpPr>
        <p:spPr>
          <a:xfrm>
            <a:off x="9189720" y="46451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endpoints for OCI services</a:t>
            </a:r>
            <a:endParaRPr lang="en-US" sz="1100" dirty="0"/>
          </a:p>
        </p:txBody>
      </p:sp>
      <p:pic>
        <p:nvPicPr>
          <p:cNvPr id="6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69680" y="5166360"/>
            <a:ext cx="228600" cy="228600"/>
          </a:xfrm>
          <a:prstGeom prst="rect">
            <a:avLst/>
          </a:prstGeom>
        </p:spPr>
      </p:pic>
      <p:sp>
        <p:nvSpPr>
          <p:cNvPr id="70" name="Text 53"/>
          <p:cNvSpPr/>
          <p:nvPr/>
        </p:nvSpPr>
        <p:spPr>
          <a:xfrm>
            <a:off x="9189720" y="51480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scans only this VCN's hosts</a:t>
            </a:r>
            <a:endParaRPr lang="en-US" sz="1100" dirty="0"/>
          </a:p>
        </p:txBody>
      </p:sp>
      <p:pic>
        <p:nvPicPr>
          <p:cNvPr id="7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69680" y="5669280"/>
            <a:ext cx="228600" cy="228600"/>
          </a:xfrm>
          <a:prstGeom prst="rect">
            <a:avLst/>
          </a:prstGeom>
        </p:spPr>
      </p:pic>
      <p:sp>
        <p:nvSpPr>
          <p:cNvPr id="72" name="Text 54"/>
          <p:cNvSpPr/>
          <p:nvPr/>
        </p:nvSpPr>
        <p:spPr>
          <a:xfrm>
            <a:off x="9189720" y="56509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go to in-country buckets only</a:t>
            </a:r>
            <a:endParaRPr lang="en-US" sz="1100" dirty="0"/>
          </a:p>
        </p:txBody>
      </p:sp>
      <p:sp>
        <p:nvSpPr>
          <p:cNvPr id="73" name="Shape 55"/>
          <p:cNvSpPr/>
          <p:nvPr/>
        </p:nvSpPr>
        <p:spPr>
          <a:xfrm>
            <a:off x="457200" y="6510528"/>
            <a:ext cx="109728" cy="10972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74" name="Text 56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Security  |  Country-wise Vulnerability Separation</a:t>
            </a:r>
            <a:endParaRPr lang="en-US" sz="1000" dirty="0"/>
          </a:p>
        </p:txBody>
      </p:sp>
      <p:sp>
        <p:nvSpPr>
          <p:cNvPr id="75" name="Text 57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TECHNICAL VIEW  ·  TOPOLOGY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countries connect — or stay apart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country's VCN lives in its own region. Only explicit, approved paths connect them — everything else is isolated.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2288" y="1783080"/>
            <a:ext cx="3657600" cy="1554480"/>
          </a:xfrm>
          <a:prstGeom prst="rect">
            <a:avLst/>
          </a:prstGeom>
          <a:solidFill>
            <a:srgbClr val="F9FAFC"/>
          </a:solidFill>
          <a:ln w="15875">
            <a:solidFill>
              <a:srgbClr val="0B1F3A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472288" y="1783080"/>
            <a:ext cx="3657600" cy="2926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2016" y="1810512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Region: me-dubai-1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9448" y="2121408"/>
            <a:ext cx="3383280" cy="27432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456" y="2157984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29488" y="2121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Tenancy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9448" y="2441448"/>
            <a:ext cx="3383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3456" y="24688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VCN  10.10.0.0/16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55168" y="2688336"/>
            <a:ext cx="1554480" cy="274320"/>
          </a:xfrm>
          <a:prstGeom prst="rect">
            <a:avLst/>
          </a:prstGeom>
          <a:solidFill>
            <a:srgbClr val="E8F4FD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5168" y="26883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301088" y="2688336"/>
            <a:ext cx="1554480" cy="274320"/>
          </a:xfrm>
          <a:prstGeom prst="rect">
            <a:avLst/>
          </a:prstGeom>
          <a:solidFill>
            <a:srgbClr val="FEF3F2"/>
          </a:solidFill>
          <a:ln w="9525">
            <a:solidFill>
              <a:srgbClr val="C7463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301088" y="26883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099920" y="3008376"/>
            <a:ext cx="402336" cy="20116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099920" y="300837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DRG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267048" y="1783080"/>
            <a:ext cx="3657600" cy="1554480"/>
          </a:xfrm>
          <a:prstGeom prst="rect">
            <a:avLst/>
          </a:prstGeom>
          <a:solidFill>
            <a:srgbClr val="F9FAFC"/>
          </a:solidFill>
          <a:ln w="15875">
            <a:solidFill>
              <a:srgbClr val="0B1F3A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4267048" y="1783080"/>
            <a:ext cx="3657600" cy="2926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76776" y="1810512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Region: me-jeddah-1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404208" y="2121408"/>
            <a:ext cx="3383280" cy="27432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216" y="2157984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724248" y="2121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Tenancy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404208" y="2441448"/>
            <a:ext cx="3383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468216" y="24688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VCN  10.20.0.0/16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4449928" y="2688336"/>
            <a:ext cx="1554480" cy="274320"/>
          </a:xfrm>
          <a:prstGeom prst="rect">
            <a:avLst/>
          </a:prstGeom>
          <a:solidFill>
            <a:srgbClr val="E8F4FD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449928" y="26883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6095848" y="2688336"/>
            <a:ext cx="1554480" cy="274320"/>
          </a:xfrm>
          <a:prstGeom prst="rect">
            <a:avLst/>
          </a:prstGeom>
          <a:solidFill>
            <a:srgbClr val="FEF3F2"/>
          </a:solidFill>
          <a:ln w="9525">
            <a:solidFill>
              <a:srgbClr val="C7463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095848" y="26883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5894680" y="3008376"/>
            <a:ext cx="402336" cy="20116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894680" y="300837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DRG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8061808" y="1783080"/>
            <a:ext cx="3657600" cy="1554480"/>
          </a:xfrm>
          <a:prstGeom prst="rect">
            <a:avLst/>
          </a:prstGeom>
          <a:solidFill>
            <a:srgbClr val="F9FAFC"/>
          </a:solidFill>
          <a:ln w="15875">
            <a:solidFill>
              <a:srgbClr val="0B1F3A"/>
            </a:solidFill>
            <a:prstDash val="dash"/>
          </a:ln>
        </p:spPr>
      </p:sp>
      <p:sp>
        <p:nvSpPr>
          <p:cNvPr id="34" name="Shape 30"/>
          <p:cNvSpPr/>
          <p:nvPr/>
        </p:nvSpPr>
        <p:spPr>
          <a:xfrm>
            <a:off x="8061808" y="1783080"/>
            <a:ext cx="3657600" cy="2926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171536" y="1810512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Region: ap-mumbai-1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8198968" y="2121408"/>
            <a:ext cx="3383280" cy="27432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976" y="2157984"/>
            <a:ext cx="201168" cy="20116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8519008" y="2121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Tenancy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8198968" y="2441448"/>
            <a:ext cx="3383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8262976" y="24688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VCN  10.30.0.0/16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8244688" y="2688336"/>
            <a:ext cx="1554480" cy="274320"/>
          </a:xfrm>
          <a:prstGeom prst="rect">
            <a:avLst/>
          </a:prstGeom>
          <a:solidFill>
            <a:srgbClr val="E8F4FD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8244688" y="26883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850" dirty="0"/>
          </a:p>
        </p:txBody>
      </p:sp>
      <p:sp>
        <p:nvSpPr>
          <p:cNvPr id="43" name="Shape 38"/>
          <p:cNvSpPr/>
          <p:nvPr/>
        </p:nvSpPr>
        <p:spPr>
          <a:xfrm>
            <a:off x="9890608" y="2688336"/>
            <a:ext cx="1554480" cy="274320"/>
          </a:xfrm>
          <a:prstGeom prst="rect">
            <a:avLst/>
          </a:prstGeom>
          <a:solidFill>
            <a:srgbClr val="FEF3F2"/>
          </a:solidFill>
          <a:ln w="9525">
            <a:solidFill>
              <a:srgbClr val="C74634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9890608" y="26883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850" dirty="0"/>
          </a:p>
        </p:txBody>
      </p:sp>
      <p:sp>
        <p:nvSpPr>
          <p:cNvPr id="45" name="Shape 40"/>
          <p:cNvSpPr/>
          <p:nvPr/>
        </p:nvSpPr>
        <p:spPr>
          <a:xfrm>
            <a:off x="9689440" y="3008376"/>
            <a:ext cx="402336" cy="20116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9689440" y="300837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DRG</a:t>
            </a:r>
            <a:endParaRPr lang="en-US" sz="800" dirty="0"/>
          </a:p>
        </p:txBody>
      </p:sp>
      <p:sp>
        <p:nvSpPr>
          <p:cNvPr id="47" name="Shape 42"/>
          <p:cNvSpPr/>
          <p:nvPr/>
        </p:nvSpPr>
        <p:spPr>
          <a:xfrm>
            <a:off x="472288" y="3429000"/>
            <a:ext cx="3657600" cy="1554480"/>
          </a:xfrm>
          <a:prstGeom prst="rect">
            <a:avLst/>
          </a:prstGeom>
          <a:solidFill>
            <a:srgbClr val="F9FAFC"/>
          </a:solidFill>
          <a:ln w="15875">
            <a:solidFill>
              <a:srgbClr val="0B1F3A"/>
            </a:solidFill>
            <a:prstDash val="dash"/>
          </a:ln>
        </p:spPr>
      </p:sp>
      <p:sp>
        <p:nvSpPr>
          <p:cNvPr id="48" name="Shape 43"/>
          <p:cNvSpPr/>
          <p:nvPr/>
        </p:nvSpPr>
        <p:spPr>
          <a:xfrm>
            <a:off x="472288" y="3429000"/>
            <a:ext cx="3657600" cy="2926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582016" y="3456432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Region: eu-frankfurt-1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609448" y="3767328"/>
            <a:ext cx="3383280" cy="27432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56" y="3803904"/>
            <a:ext cx="201168" cy="201168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929488" y="3767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Tenancy</a:t>
            </a:r>
            <a:endParaRPr lang="en-US" sz="1000" dirty="0"/>
          </a:p>
        </p:txBody>
      </p:sp>
      <p:sp>
        <p:nvSpPr>
          <p:cNvPr id="53" name="Shape 47"/>
          <p:cNvSpPr/>
          <p:nvPr/>
        </p:nvSpPr>
        <p:spPr>
          <a:xfrm>
            <a:off x="609448" y="4087368"/>
            <a:ext cx="3383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673456" y="41148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VCN  10.40.0.0/16</a:t>
            </a:r>
            <a:endParaRPr lang="en-US" sz="900" dirty="0"/>
          </a:p>
        </p:txBody>
      </p:sp>
      <p:sp>
        <p:nvSpPr>
          <p:cNvPr id="55" name="Shape 49"/>
          <p:cNvSpPr/>
          <p:nvPr/>
        </p:nvSpPr>
        <p:spPr>
          <a:xfrm>
            <a:off x="655168" y="4334256"/>
            <a:ext cx="1554480" cy="274320"/>
          </a:xfrm>
          <a:prstGeom prst="rect">
            <a:avLst/>
          </a:prstGeom>
          <a:solidFill>
            <a:srgbClr val="E8F4FD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655168" y="43342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850" dirty="0"/>
          </a:p>
        </p:txBody>
      </p:sp>
      <p:sp>
        <p:nvSpPr>
          <p:cNvPr id="57" name="Shape 51"/>
          <p:cNvSpPr/>
          <p:nvPr/>
        </p:nvSpPr>
        <p:spPr>
          <a:xfrm>
            <a:off x="2301088" y="4334256"/>
            <a:ext cx="1554480" cy="274320"/>
          </a:xfrm>
          <a:prstGeom prst="rect">
            <a:avLst/>
          </a:prstGeom>
          <a:solidFill>
            <a:srgbClr val="FEF3F2"/>
          </a:solidFill>
          <a:ln w="9525">
            <a:solidFill>
              <a:srgbClr val="C74634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2301088" y="43342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850" dirty="0"/>
          </a:p>
        </p:txBody>
      </p:sp>
      <p:sp>
        <p:nvSpPr>
          <p:cNvPr id="59" name="Shape 53"/>
          <p:cNvSpPr/>
          <p:nvPr/>
        </p:nvSpPr>
        <p:spPr>
          <a:xfrm>
            <a:off x="2099920" y="4654296"/>
            <a:ext cx="402336" cy="20116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2099920" y="465429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DRG</a:t>
            </a:r>
            <a:endParaRPr lang="en-US" sz="800" dirty="0"/>
          </a:p>
        </p:txBody>
      </p:sp>
      <p:sp>
        <p:nvSpPr>
          <p:cNvPr id="61" name="Shape 55"/>
          <p:cNvSpPr/>
          <p:nvPr/>
        </p:nvSpPr>
        <p:spPr>
          <a:xfrm>
            <a:off x="4267048" y="3429000"/>
            <a:ext cx="3657600" cy="1554480"/>
          </a:xfrm>
          <a:prstGeom prst="rect">
            <a:avLst/>
          </a:prstGeom>
          <a:solidFill>
            <a:srgbClr val="F9FAFC"/>
          </a:solidFill>
          <a:ln w="15875">
            <a:solidFill>
              <a:srgbClr val="0B1F3A"/>
            </a:solidFill>
            <a:prstDash val="dash"/>
          </a:ln>
        </p:spPr>
      </p:sp>
      <p:sp>
        <p:nvSpPr>
          <p:cNvPr id="62" name="Shape 56"/>
          <p:cNvSpPr/>
          <p:nvPr/>
        </p:nvSpPr>
        <p:spPr>
          <a:xfrm>
            <a:off x="4267048" y="3429000"/>
            <a:ext cx="3657600" cy="2926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3" name="Text 57"/>
          <p:cNvSpPr/>
          <p:nvPr/>
        </p:nvSpPr>
        <p:spPr>
          <a:xfrm>
            <a:off x="4376776" y="3456432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Region: eu-marseille-1</a:t>
            </a:r>
            <a:endParaRPr lang="en-US" sz="1000" dirty="0"/>
          </a:p>
        </p:txBody>
      </p:sp>
      <p:sp>
        <p:nvSpPr>
          <p:cNvPr id="64" name="Shape 58"/>
          <p:cNvSpPr/>
          <p:nvPr/>
        </p:nvSpPr>
        <p:spPr>
          <a:xfrm>
            <a:off x="4404208" y="3767328"/>
            <a:ext cx="3383280" cy="27432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pic>
        <p:nvPicPr>
          <p:cNvPr id="6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8216" y="3803904"/>
            <a:ext cx="201168" cy="201168"/>
          </a:xfrm>
          <a:prstGeom prst="rect">
            <a:avLst/>
          </a:prstGeom>
        </p:spPr>
      </p:pic>
      <p:sp>
        <p:nvSpPr>
          <p:cNvPr id="66" name="Text 59"/>
          <p:cNvSpPr/>
          <p:nvPr/>
        </p:nvSpPr>
        <p:spPr>
          <a:xfrm>
            <a:off x="4724248" y="3767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Tenancy</a:t>
            </a:r>
            <a:endParaRPr lang="en-US" sz="1000" dirty="0"/>
          </a:p>
        </p:txBody>
      </p:sp>
      <p:sp>
        <p:nvSpPr>
          <p:cNvPr id="67" name="Shape 60"/>
          <p:cNvSpPr/>
          <p:nvPr/>
        </p:nvSpPr>
        <p:spPr>
          <a:xfrm>
            <a:off x="4404208" y="4087368"/>
            <a:ext cx="3383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68" name="Text 61"/>
          <p:cNvSpPr/>
          <p:nvPr/>
        </p:nvSpPr>
        <p:spPr>
          <a:xfrm>
            <a:off x="4468216" y="41148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VCN  10.50.0.0/16</a:t>
            </a:r>
            <a:endParaRPr lang="en-US" sz="900" dirty="0"/>
          </a:p>
        </p:txBody>
      </p:sp>
      <p:sp>
        <p:nvSpPr>
          <p:cNvPr id="69" name="Shape 62"/>
          <p:cNvSpPr/>
          <p:nvPr/>
        </p:nvSpPr>
        <p:spPr>
          <a:xfrm>
            <a:off x="4449928" y="4334256"/>
            <a:ext cx="1554480" cy="274320"/>
          </a:xfrm>
          <a:prstGeom prst="rect">
            <a:avLst/>
          </a:prstGeom>
          <a:solidFill>
            <a:srgbClr val="E8F4FD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70" name="Text 63"/>
          <p:cNvSpPr/>
          <p:nvPr/>
        </p:nvSpPr>
        <p:spPr>
          <a:xfrm>
            <a:off x="4449928" y="43342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850" dirty="0"/>
          </a:p>
        </p:txBody>
      </p:sp>
      <p:sp>
        <p:nvSpPr>
          <p:cNvPr id="71" name="Shape 64"/>
          <p:cNvSpPr/>
          <p:nvPr/>
        </p:nvSpPr>
        <p:spPr>
          <a:xfrm>
            <a:off x="6095848" y="4334256"/>
            <a:ext cx="1554480" cy="274320"/>
          </a:xfrm>
          <a:prstGeom prst="rect">
            <a:avLst/>
          </a:prstGeom>
          <a:solidFill>
            <a:srgbClr val="FEF3F2"/>
          </a:solidFill>
          <a:ln w="9525">
            <a:solidFill>
              <a:srgbClr val="C74634"/>
            </a:solidFill>
            <a:prstDash val="solid"/>
          </a:ln>
        </p:spPr>
      </p:sp>
      <p:sp>
        <p:nvSpPr>
          <p:cNvPr id="72" name="Text 65"/>
          <p:cNvSpPr/>
          <p:nvPr/>
        </p:nvSpPr>
        <p:spPr>
          <a:xfrm>
            <a:off x="6095848" y="43342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850" dirty="0"/>
          </a:p>
        </p:txBody>
      </p:sp>
      <p:sp>
        <p:nvSpPr>
          <p:cNvPr id="73" name="Shape 66"/>
          <p:cNvSpPr/>
          <p:nvPr/>
        </p:nvSpPr>
        <p:spPr>
          <a:xfrm>
            <a:off x="5894680" y="4654296"/>
            <a:ext cx="402336" cy="20116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4" name="Text 67"/>
          <p:cNvSpPr/>
          <p:nvPr/>
        </p:nvSpPr>
        <p:spPr>
          <a:xfrm>
            <a:off x="5894680" y="465429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DRG</a:t>
            </a:r>
            <a:endParaRPr lang="en-US" sz="800" dirty="0"/>
          </a:p>
        </p:txBody>
      </p:sp>
      <p:sp>
        <p:nvSpPr>
          <p:cNvPr id="75" name="Shape 68"/>
          <p:cNvSpPr/>
          <p:nvPr/>
        </p:nvSpPr>
        <p:spPr>
          <a:xfrm>
            <a:off x="8061808" y="3429000"/>
            <a:ext cx="3657600" cy="1554480"/>
          </a:xfrm>
          <a:prstGeom prst="rect">
            <a:avLst/>
          </a:prstGeom>
          <a:solidFill>
            <a:srgbClr val="F9FAFC"/>
          </a:solidFill>
          <a:ln w="15875">
            <a:solidFill>
              <a:srgbClr val="0B1F3A"/>
            </a:solidFill>
            <a:prstDash val="dash"/>
          </a:ln>
        </p:spPr>
      </p:sp>
      <p:sp>
        <p:nvSpPr>
          <p:cNvPr id="76" name="Shape 69"/>
          <p:cNvSpPr/>
          <p:nvPr/>
        </p:nvSpPr>
        <p:spPr>
          <a:xfrm>
            <a:off x="8061808" y="3429000"/>
            <a:ext cx="3657600" cy="2926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7" name="Text 70"/>
          <p:cNvSpPr/>
          <p:nvPr/>
        </p:nvSpPr>
        <p:spPr>
          <a:xfrm>
            <a:off x="8171536" y="3456432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Region: uk-london-1</a:t>
            </a:r>
            <a:endParaRPr lang="en-US" sz="1000" dirty="0"/>
          </a:p>
        </p:txBody>
      </p:sp>
      <p:sp>
        <p:nvSpPr>
          <p:cNvPr id="78" name="Shape 71"/>
          <p:cNvSpPr/>
          <p:nvPr/>
        </p:nvSpPr>
        <p:spPr>
          <a:xfrm>
            <a:off x="8198968" y="3767328"/>
            <a:ext cx="3383280" cy="27432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pic>
        <p:nvPicPr>
          <p:cNvPr id="7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2976" y="3803904"/>
            <a:ext cx="201168" cy="201168"/>
          </a:xfrm>
          <a:prstGeom prst="rect">
            <a:avLst/>
          </a:prstGeom>
        </p:spPr>
      </p:pic>
      <p:sp>
        <p:nvSpPr>
          <p:cNvPr id="80" name="Text 72"/>
          <p:cNvSpPr/>
          <p:nvPr/>
        </p:nvSpPr>
        <p:spPr>
          <a:xfrm>
            <a:off x="8519008" y="3767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Tenancy</a:t>
            </a:r>
            <a:endParaRPr lang="en-US" sz="1000" dirty="0"/>
          </a:p>
        </p:txBody>
      </p:sp>
      <p:sp>
        <p:nvSpPr>
          <p:cNvPr id="81" name="Shape 73"/>
          <p:cNvSpPr/>
          <p:nvPr/>
        </p:nvSpPr>
        <p:spPr>
          <a:xfrm>
            <a:off x="8198968" y="4087368"/>
            <a:ext cx="3383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82" name="Text 74"/>
          <p:cNvSpPr/>
          <p:nvPr/>
        </p:nvSpPr>
        <p:spPr>
          <a:xfrm>
            <a:off x="8262976" y="41148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VCN  10.60.0.0/16</a:t>
            </a:r>
            <a:endParaRPr lang="en-US" sz="900" dirty="0"/>
          </a:p>
        </p:txBody>
      </p:sp>
      <p:sp>
        <p:nvSpPr>
          <p:cNvPr id="83" name="Shape 75"/>
          <p:cNvSpPr/>
          <p:nvPr/>
        </p:nvSpPr>
        <p:spPr>
          <a:xfrm>
            <a:off x="8244688" y="4334256"/>
            <a:ext cx="1554480" cy="274320"/>
          </a:xfrm>
          <a:prstGeom prst="rect">
            <a:avLst/>
          </a:prstGeom>
          <a:solidFill>
            <a:srgbClr val="E8F4FD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84" name="Text 76"/>
          <p:cNvSpPr/>
          <p:nvPr/>
        </p:nvSpPr>
        <p:spPr>
          <a:xfrm>
            <a:off x="8244688" y="43342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850" dirty="0"/>
          </a:p>
        </p:txBody>
      </p:sp>
      <p:sp>
        <p:nvSpPr>
          <p:cNvPr id="85" name="Shape 77"/>
          <p:cNvSpPr/>
          <p:nvPr/>
        </p:nvSpPr>
        <p:spPr>
          <a:xfrm>
            <a:off x="9890608" y="4334256"/>
            <a:ext cx="1554480" cy="274320"/>
          </a:xfrm>
          <a:prstGeom prst="rect">
            <a:avLst/>
          </a:prstGeom>
          <a:solidFill>
            <a:srgbClr val="FEF3F2"/>
          </a:solidFill>
          <a:ln w="9525">
            <a:solidFill>
              <a:srgbClr val="C74634"/>
            </a:solidFill>
            <a:prstDash val="solid"/>
          </a:ln>
        </p:spPr>
      </p:sp>
      <p:sp>
        <p:nvSpPr>
          <p:cNvPr id="86" name="Text 78"/>
          <p:cNvSpPr/>
          <p:nvPr/>
        </p:nvSpPr>
        <p:spPr>
          <a:xfrm>
            <a:off x="9890608" y="43342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850" dirty="0"/>
          </a:p>
        </p:txBody>
      </p:sp>
      <p:sp>
        <p:nvSpPr>
          <p:cNvPr id="87" name="Shape 79"/>
          <p:cNvSpPr/>
          <p:nvPr/>
        </p:nvSpPr>
        <p:spPr>
          <a:xfrm>
            <a:off x="9689440" y="4654296"/>
            <a:ext cx="402336" cy="20116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8" name="Text 80"/>
          <p:cNvSpPr/>
          <p:nvPr/>
        </p:nvSpPr>
        <p:spPr>
          <a:xfrm>
            <a:off x="9689440" y="465429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DRG</a:t>
            </a:r>
            <a:endParaRPr lang="en-US" sz="800" dirty="0"/>
          </a:p>
        </p:txBody>
      </p:sp>
      <p:sp>
        <p:nvSpPr>
          <p:cNvPr id="89" name="Shape 81"/>
          <p:cNvSpPr/>
          <p:nvPr/>
        </p:nvSpPr>
        <p:spPr>
          <a:xfrm>
            <a:off x="472288" y="5074920"/>
            <a:ext cx="11247120" cy="411480"/>
          </a:xfrm>
          <a:prstGeom prst="rect">
            <a:avLst/>
          </a:prstGeom>
          <a:solidFill>
            <a:srgbClr val="F5F7FB"/>
          </a:solidFill>
          <a:ln w="12700">
            <a:solidFill>
              <a:srgbClr val="8B2E28"/>
            </a:solidFill>
            <a:prstDash val="dash"/>
          </a:ln>
        </p:spPr>
      </p:sp>
      <p:sp>
        <p:nvSpPr>
          <p:cNvPr id="90" name="Shape 82"/>
          <p:cNvSpPr/>
          <p:nvPr/>
        </p:nvSpPr>
        <p:spPr>
          <a:xfrm>
            <a:off x="655168" y="5138928"/>
            <a:ext cx="274320" cy="274320"/>
          </a:xfrm>
          <a:prstGeom prst="ellipse">
            <a:avLst/>
          </a:prstGeom>
          <a:solidFill>
            <a:srgbClr val="8B2E28"/>
          </a:solidFill>
          <a:ln w="12700">
            <a:solidFill>
              <a:srgbClr val="8B2E28"/>
            </a:solidFill>
            <a:prstDash val="solid"/>
          </a:ln>
        </p:spPr>
      </p:sp>
      <p:sp>
        <p:nvSpPr>
          <p:cNvPr id="91" name="Text 83"/>
          <p:cNvSpPr/>
          <p:nvPr/>
        </p:nvSpPr>
        <p:spPr>
          <a:xfrm>
            <a:off x="655168" y="5120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92" name="Text 84"/>
          <p:cNvSpPr/>
          <p:nvPr/>
        </p:nvSpPr>
        <p:spPr>
          <a:xfrm>
            <a:off x="1020928" y="5120640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8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default peering between any two countries.  Explicit DRG attachment + IAM approval required for any cross-country traffic.</a:t>
            </a:r>
            <a:endParaRPr lang="en-US" sz="1050" dirty="0"/>
          </a:p>
        </p:txBody>
      </p:sp>
      <p:sp>
        <p:nvSpPr>
          <p:cNvPr id="93" name="Shape 85"/>
          <p:cNvSpPr/>
          <p:nvPr/>
        </p:nvSpPr>
        <p:spPr>
          <a:xfrm>
            <a:off x="457200" y="5623560"/>
            <a:ext cx="11277295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4" name="Text 86"/>
          <p:cNvSpPr/>
          <p:nvPr/>
        </p:nvSpPr>
        <p:spPr>
          <a:xfrm>
            <a:off x="685800" y="56692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Central governance plane (read-only across all countries)</a:t>
            </a:r>
            <a:endParaRPr lang="en-US" sz="1050" dirty="0"/>
          </a:p>
        </p:txBody>
      </p:sp>
      <p:sp>
        <p:nvSpPr>
          <p:cNvPr id="95" name="Shape 87"/>
          <p:cNvSpPr/>
          <p:nvPr/>
        </p:nvSpPr>
        <p:spPr>
          <a:xfrm>
            <a:off x="685800" y="5925312"/>
            <a:ext cx="2636444" cy="310896"/>
          </a:xfrm>
          <a:prstGeom prst="rect">
            <a:avLst/>
          </a:prstGeom>
          <a:solidFill>
            <a:srgbClr val="061226"/>
          </a:solidFill>
          <a:ln w="9525">
            <a:solidFill>
              <a:srgbClr val="F2B705"/>
            </a:solidFill>
            <a:prstDash val="solid"/>
          </a:ln>
        </p:spPr>
      </p:sp>
      <p:sp>
        <p:nvSpPr>
          <p:cNvPr id="96" name="Text 88"/>
          <p:cNvSpPr/>
          <p:nvPr/>
        </p:nvSpPr>
        <p:spPr>
          <a:xfrm>
            <a:off x="685800" y="5925312"/>
            <a:ext cx="26364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Guard (Org)</a:t>
            </a:r>
            <a:endParaRPr lang="en-US" sz="950" dirty="0"/>
          </a:p>
        </p:txBody>
      </p:sp>
      <p:sp>
        <p:nvSpPr>
          <p:cNvPr id="97" name="Shape 89"/>
          <p:cNvSpPr/>
          <p:nvPr/>
        </p:nvSpPr>
        <p:spPr>
          <a:xfrm>
            <a:off x="3413684" y="5925312"/>
            <a:ext cx="2636444" cy="310896"/>
          </a:xfrm>
          <a:prstGeom prst="rect">
            <a:avLst/>
          </a:prstGeom>
          <a:solidFill>
            <a:srgbClr val="061226"/>
          </a:solidFill>
          <a:ln w="9525">
            <a:solidFill>
              <a:srgbClr val="F2B705"/>
            </a:solidFill>
            <a:prstDash val="solid"/>
          </a:ln>
        </p:spPr>
      </p:sp>
      <p:sp>
        <p:nvSpPr>
          <p:cNvPr id="98" name="Text 90"/>
          <p:cNvSpPr/>
          <p:nvPr/>
        </p:nvSpPr>
        <p:spPr>
          <a:xfrm>
            <a:off x="3413684" y="5925312"/>
            <a:ext cx="26364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Analytics</a:t>
            </a:r>
            <a:endParaRPr lang="en-US" sz="950" dirty="0"/>
          </a:p>
        </p:txBody>
      </p:sp>
      <p:sp>
        <p:nvSpPr>
          <p:cNvPr id="99" name="Shape 91"/>
          <p:cNvSpPr/>
          <p:nvPr/>
        </p:nvSpPr>
        <p:spPr>
          <a:xfrm>
            <a:off x="6141568" y="5925312"/>
            <a:ext cx="2636444" cy="310896"/>
          </a:xfrm>
          <a:prstGeom prst="rect">
            <a:avLst/>
          </a:prstGeom>
          <a:solidFill>
            <a:srgbClr val="061226"/>
          </a:solidFill>
          <a:ln w="9525">
            <a:solidFill>
              <a:srgbClr val="F2B705"/>
            </a:solidFill>
            <a:prstDash val="solid"/>
          </a:ln>
        </p:spPr>
      </p:sp>
      <p:sp>
        <p:nvSpPr>
          <p:cNvPr id="100" name="Text 92"/>
          <p:cNvSpPr/>
          <p:nvPr/>
        </p:nvSpPr>
        <p:spPr>
          <a:xfrm>
            <a:off x="6141568" y="5925312"/>
            <a:ext cx="26364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Org Admin</a:t>
            </a:r>
            <a:endParaRPr lang="en-US" sz="950" dirty="0"/>
          </a:p>
        </p:txBody>
      </p:sp>
      <p:sp>
        <p:nvSpPr>
          <p:cNvPr id="101" name="Shape 93"/>
          <p:cNvSpPr/>
          <p:nvPr/>
        </p:nvSpPr>
        <p:spPr>
          <a:xfrm>
            <a:off x="8869451" y="5925312"/>
            <a:ext cx="2636444" cy="310896"/>
          </a:xfrm>
          <a:prstGeom prst="rect">
            <a:avLst/>
          </a:prstGeom>
          <a:solidFill>
            <a:srgbClr val="061226"/>
          </a:solidFill>
          <a:ln w="9525">
            <a:solidFill>
              <a:srgbClr val="F2B705"/>
            </a:solidFill>
            <a:prstDash val="solid"/>
          </a:ln>
        </p:spPr>
      </p:sp>
      <p:sp>
        <p:nvSpPr>
          <p:cNvPr id="102" name="Text 94"/>
          <p:cNvSpPr/>
          <p:nvPr/>
        </p:nvSpPr>
        <p:spPr>
          <a:xfrm>
            <a:off x="8869451" y="5925312"/>
            <a:ext cx="26364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(view-only)</a:t>
            </a:r>
            <a:endParaRPr lang="en-US" sz="950" dirty="0"/>
          </a:p>
        </p:txBody>
      </p:sp>
      <p:sp>
        <p:nvSpPr>
          <p:cNvPr id="103" name="Shape 95"/>
          <p:cNvSpPr/>
          <p:nvPr/>
        </p:nvSpPr>
        <p:spPr>
          <a:xfrm>
            <a:off x="457200" y="6510528"/>
            <a:ext cx="109728" cy="10972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04" name="Text 96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Security  |  Country-wise Vulnerability Separation</a:t>
            </a:r>
            <a:endParaRPr lang="en-US" sz="1000" dirty="0"/>
          </a:p>
        </p:txBody>
      </p:sp>
      <p:sp>
        <p:nvSpPr>
          <p:cNvPr id="105" name="Text 97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PLAN  ·  CIDR ALLOCATION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 address plan — non-overlapping per country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country gets its own /16 VCN. Inside the VCN, /24 subnets are allocated for tiers (web, app, data, mgmt). Non-overlapping by design — required for any future DRG peering.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2344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91640" y="1920240"/>
            <a:ext cx="19202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1920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Region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11880" y="1920240"/>
            <a:ext cx="164592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1920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VCN CIDR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57800" y="1920240"/>
            <a:ext cx="278892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19202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 (/24)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7589520" cy="502920"/>
          </a:xfrm>
          <a:prstGeom prst="rect">
            <a:avLst/>
          </a:prstGeom>
          <a:solidFill>
            <a:srgbClr val="F5F7FB"/>
          </a:solidFill>
          <a:ln w="6350">
            <a:solidFill>
              <a:srgbClr val="D6DEE8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450592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68680" y="23317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783080" y="2331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me-dubai-1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703320" y="2441448"/>
            <a:ext cx="1463040" cy="283464"/>
          </a:xfrm>
          <a:prstGeom prst="rect">
            <a:avLst/>
          </a:prstGeom>
          <a:solidFill>
            <a:srgbClr val="FEF3F2"/>
          </a:solidFill>
          <a:ln w="6350">
            <a:solidFill>
              <a:srgbClr val="C7463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03320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46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10.10.0.0/16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349240" y="2331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.1/24 Public  .2/24 App  .3/24 DB  .4/24 Mgmt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2834640"/>
            <a:ext cx="7589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953512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68680" y="28346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1783080" y="2834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me-jeddah-1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703320" y="2944368"/>
            <a:ext cx="1463040" cy="283464"/>
          </a:xfrm>
          <a:prstGeom prst="rect">
            <a:avLst/>
          </a:prstGeom>
          <a:solidFill>
            <a:srgbClr val="FEF3F2"/>
          </a:solidFill>
          <a:ln w="6350">
            <a:solidFill>
              <a:srgbClr val="C74634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703320" y="2834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46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10.20.0.0/16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349240" y="2834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.1/24 Public  .2/24 App  .3/24 DB  .4/24 Mgmt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457200" y="3337560"/>
            <a:ext cx="7589520" cy="502920"/>
          </a:xfrm>
          <a:prstGeom prst="rect">
            <a:avLst/>
          </a:prstGeom>
          <a:solidFill>
            <a:srgbClr val="F5F7FB"/>
          </a:solidFill>
          <a:ln w="6350">
            <a:solidFill>
              <a:srgbClr val="D6DEE8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456432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68680" y="333756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1783080" y="3337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ap-mumbai-1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3703320" y="3447288"/>
            <a:ext cx="1463040" cy="283464"/>
          </a:xfrm>
          <a:prstGeom prst="rect">
            <a:avLst/>
          </a:prstGeom>
          <a:solidFill>
            <a:srgbClr val="FEF3F2"/>
          </a:solidFill>
          <a:ln w="6350">
            <a:solidFill>
              <a:srgbClr val="C74634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703320" y="33375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46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10.30.0.0/16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5349240" y="3337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.1/24 Public  .2/24 App  .3/24 DB  .4/24 Mgmt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457200" y="3840480"/>
            <a:ext cx="7589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959352"/>
            <a:ext cx="274320" cy="27432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868680" y="38404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1783080" y="3840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eu-frankfurt-1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3703320" y="3950208"/>
            <a:ext cx="1463040" cy="283464"/>
          </a:xfrm>
          <a:prstGeom prst="rect">
            <a:avLst/>
          </a:prstGeom>
          <a:solidFill>
            <a:srgbClr val="FEF3F2"/>
          </a:solidFill>
          <a:ln w="6350">
            <a:solidFill>
              <a:srgbClr val="C74634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3703320" y="3840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46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10.40.0.0/16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5349240" y="3840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.1/24 Public  .2/24 App  .3/24 DB  .4/24 Mgmt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457200" y="4343400"/>
            <a:ext cx="7589520" cy="502920"/>
          </a:xfrm>
          <a:prstGeom prst="rect">
            <a:avLst/>
          </a:prstGeom>
          <a:solidFill>
            <a:srgbClr val="F5F7FB"/>
          </a:solidFill>
          <a:ln w="6350">
            <a:solidFill>
              <a:srgbClr val="D6DEE8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4462272"/>
            <a:ext cx="274320" cy="27432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868680" y="43434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1783080" y="4343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eu-marseille-1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3703320" y="4453128"/>
            <a:ext cx="1463040" cy="283464"/>
          </a:xfrm>
          <a:prstGeom prst="rect">
            <a:avLst/>
          </a:prstGeom>
          <a:solidFill>
            <a:srgbClr val="FEF3F2"/>
          </a:solidFill>
          <a:ln w="6350">
            <a:solidFill>
              <a:srgbClr val="C74634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3703320" y="4343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46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10.50.0.0/16</a:t>
            </a:r>
            <a:endParaRPr lang="en-US" sz="1100" dirty="0"/>
          </a:p>
        </p:txBody>
      </p:sp>
      <p:sp>
        <p:nvSpPr>
          <p:cNvPr id="47" name="Text 40"/>
          <p:cNvSpPr/>
          <p:nvPr/>
        </p:nvSpPr>
        <p:spPr>
          <a:xfrm>
            <a:off x="5349240" y="4343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.1/24 Public  .2/24 App  .3/24 DB  .4/24 Mgmt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457200" y="4846320"/>
            <a:ext cx="7589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4965192"/>
            <a:ext cx="274320" cy="27432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868680" y="48463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1100" dirty="0"/>
          </a:p>
        </p:txBody>
      </p:sp>
      <p:sp>
        <p:nvSpPr>
          <p:cNvPr id="51" name="Text 43"/>
          <p:cNvSpPr/>
          <p:nvPr/>
        </p:nvSpPr>
        <p:spPr>
          <a:xfrm>
            <a:off x="1783080" y="4846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uk-london-1</a:t>
            </a:r>
            <a:endParaRPr lang="en-US" sz="1000" dirty="0"/>
          </a:p>
        </p:txBody>
      </p:sp>
      <p:sp>
        <p:nvSpPr>
          <p:cNvPr id="52" name="Shape 44"/>
          <p:cNvSpPr/>
          <p:nvPr/>
        </p:nvSpPr>
        <p:spPr>
          <a:xfrm>
            <a:off x="3703320" y="4956048"/>
            <a:ext cx="1463040" cy="283464"/>
          </a:xfrm>
          <a:prstGeom prst="rect">
            <a:avLst/>
          </a:prstGeom>
          <a:solidFill>
            <a:srgbClr val="FEF3F2"/>
          </a:solidFill>
          <a:ln w="6350">
            <a:solidFill>
              <a:srgbClr val="C74634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3703320" y="4846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46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10.60.0.0/16</a:t>
            </a:r>
            <a:endParaRPr lang="en-US" sz="1100" dirty="0"/>
          </a:p>
        </p:txBody>
      </p:sp>
      <p:sp>
        <p:nvSpPr>
          <p:cNvPr id="54" name="Text 46"/>
          <p:cNvSpPr/>
          <p:nvPr/>
        </p:nvSpPr>
        <p:spPr>
          <a:xfrm>
            <a:off x="5349240" y="4846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.1/24 Public  .2/24 App  .3/24 DB  .4/24 Mgmt</a:t>
            </a:r>
            <a:endParaRPr lang="en-US" sz="900" dirty="0"/>
          </a:p>
        </p:txBody>
      </p:sp>
      <p:sp>
        <p:nvSpPr>
          <p:cNvPr id="55" name="Shape 47"/>
          <p:cNvSpPr/>
          <p:nvPr/>
        </p:nvSpPr>
        <p:spPr>
          <a:xfrm>
            <a:off x="8229600" y="1920240"/>
            <a:ext cx="3504895" cy="4251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2103120"/>
            <a:ext cx="365760" cy="365760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8915400" y="2121408"/>
            <a:ext cx="2681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PLAN RULES</a:t>
            </a:r>
            <a:endParaRPr lang="en-US" sz="1300" dirty="0"/>
          </a:p>
        </p:txBody>
      </p:sp>
      <p:sp>
        <p:nvSpPr>
          <p:cNvPr id="58" name="Shape 49"/>
          <p:cNvSpPr/>
          <p:nvPr/>
        </p:nvSpPr>
        <p:spPr>
          <a:xfrm>
            <a:off x="8412480" y="2606040"/>
            <a:ext cx="640080" cy="2743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9" name="Text 50"/>
          <p:cNvSpPr/>
          <p:nvPr/>
        </p:nvSpPr>
        <p:spPr>
          <a:xfrm>
            <a:off x="8412480" y="2788920"/>
            <a:ext cx="3139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Non-overlapping</a:t>
            </a:r>
            <a:endParaRPr lang="en-US" sz="1100" dirty="0"/>
          </a:p>
        </p:txBody>
      </p:sp>
      <p:sp>
        <p:nvSpPr>
          <p:cNvPr id="60" name="Text 51"/>
          <p:cNvSpPr/>
          <p:nvPr/>
        </p:nvSpPr>
        <p:spPr>
          <a:xfrm>
            <a:off x="8412480" y="2999232"/>
            <a:ext cx="3139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country uses a unique /16 — no two VCNs share any address space.</a:t>
            </a:r>
            <a:endParaRPr lang="en-US" sz="950" dirty="0"/>
          </a:p>
        </p:txBody>
      </p:sp>
      <p:sp>
        <p:nvSpPr>
          <p:cNvPr id="61" name="Text 52"/>
          <p:cNvSpPr/>
          <p:nvPr/>
        </p:nvSpPr>
        <p:spPr>
          <a:xfrm>
            <a:off x="8412480" y="3337560"/>
            <a:ext cx="3139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RFC1918 only</a:t>
            </a:r>
            <a:endParaRPr lang="en-US" sz="1100" dirty="0"/>
          </a:p>
        </p:txBody>
      </p:sp>
      <p:sp>
        <p:nvSpPr>
          <p:cNvPr id="62" name="Text 53"/>
          <p:cNvSpPr/>
          <p:nvPr/>
        </p:nvSpPr>
        <p:spPr>
          <a:xfrm>
            <a:off x="8412480" y="3547872"/>
            <a:ext cx="3139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inside 10.0.0.0/8 for all private workloads.</a:t>
            </a:r>
            <a:endParaRPr lang="en-US" sz="950" dirty="0"/>
          </a:p>
        </p:txBody>
      </p:sp>
      <p:sp>
        <p:nvSpPr>
          <p:cNvPr id="63" name="Text 54"/>
          <p:cNvSpPr/>
          <p:nvPr/>
        </p:nvSpPr>
        <p:spPr>
          <a:xfrm>
            <a:off x="8412480" y="3886200"/>
            <a:ext cx="3139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to grow</a:t>
            </a:r>
            <a:endParaRPr lang="en-US" sz="1100" dirty="0"/>
          </a:p>
        </p:txBody>
      </p:sp>
      <p:sp>
        <p:nvSpPr>
          <p:cNvPr id="64" name="Text 55"/>
          <p:cNvSpPr/>
          <p:nvPr/>
        </p:nvSpPr>
        <p:spPr>
          <a:xfrm>
            <a:off x="8412480" y="4096512"/>
            <a:ext cx="3139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/16 gives 65k addresses — plenty for years of growth.</a:t>
            </a:r>
            <a:endParaRPr lang="en-US" sz="950" dirty="0"/>
          </a:p>
        </p:txBody>
      </p:sp>
      <p:sp>
        <p:nvSpPr>
          <p:cNvPr id="65" name="Text 56"/>
          <p:cNvSpPr/>
          <p:nvPr/>
        </p:nvSpPr>
        <p:spPr>
          <a:xfrm>
            <a:off x="8412480" y="4434840"/>
            <a:ext cx="3139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Tier-based subnets</a:t>
            </a:r>
            <a:endParaRPr lang="en-US" sz="1100" dirty="0"/>
          </a:p>
        </p:txBody>
      </p:sp>
      <p:sp>
        <p:nvSpPr>
          <p:cNvPr id="66" name="Text 57"/>
          <p:cNvSpPr/>
          <p:nvPr/>
        </p:nvSpPr>
        <p:spPr>
          <a:xfrm>
            <a:off x="8412480" y="4645152"/>
            <a:ext cx="3139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VCN into /24s by tier: Web / App / DB / Mgmt.</a:t>
            </a:r>
            <a:endParaRPr lang="en-US" sz="950" dirty="0"/>
          </a:p>
        </p:txBody>
      </p:sp>
      <p:sp>
        <p:nvSpPr>
          <p:cNvPr id="67" name="Text 58"/>
          <p:cNvSpPr/>
          <p:nvPr/>
        </p:nvSpPr>
        <p:spPr>
          <a:xfrm>
            <a:off x="8412480" y="4983480"/>
            <a:ext cx="3139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is minimal</a:t>
            </a:r>
            <a:endParaRPr lang="en-US" sz="1100" dirty="0"/>
          </a:p>
        </p:txBody>
      </p:sp>
      <p:sp>
        <p:nvSpPr>
          <p:cNvPr id="68" name="Text 59"/>
          <p:cNvSpPr/>
          <p:nvPr/>
        </p:nvSpPr>
        <p:spPr>
          <a:xfrm>
            <a:off x="8412480" y="5193792"/>
            <a:ext cx="3139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LB + Bastion live in public subnet. All else private.</a:t>
            </a:r>
            <a:endParaRPr lang="en-US" sz="950" dirty="0"/>
          </a:p>
        </p:txBody>
      </p:sp>
      <p:sp>
        <p:nvSpPr>
          <p:cNvPr id="69" name="Text 60"/>
          <p:cNvSpPr/>
          <p:nvPr/>
        </p:nvSpPr>
        <p:spPr>
          <a:xfrm>
            <a:off x="8412480" y="5532120"/>
            <a:ext cx="3139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ranges</a:t>
            </a:r>
            <a:endParaRPr lang="en-US" sz="1100" dirty="0"/>
          </a:p>
        </p:txBody>
      </p:sp>
      <p:sp>
        <p:nvSpPr>
          <p:cNvPr id="70" name="Text 61"/>
          <p:cNvSpPr/>
          <p:nvPr/>
        </p:nvSpPr>
        <p:spPr>
          <a:xfrm>
            <a:off x="8412480" y="5742432"/>
            <a:ext cx="3139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10.100.0.0/16 reserved for shared services / future central hub.</a:t>
            </a:r>
            <a:endParaRPr lang="en-US" sz="950" dirty="0"/>
          </a:p>
        </p:txBody>
      </p:sp>
      <p:sp>
        <p:nvSpPr>
          <p:cNvPr id="71" name="Shape 62"/>
          <p:cNvSpPr/>
          <p:nvPr/>
        </p:nvSpPr>
        <p:spPr>
          <a:xfrm>
            <a:off x="457200" y="6510528"/>
            <a:ext cx="109728" cy="10972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72" name="Text 63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Security  |  Country-wise Vulnerability Separation</a:t>
            </a:r>
            <a:endParaRPr lang="en-US" sz="1000" dirty="0"/>
          </a:p>
        </p:txBody>
      </p:sp>
      <p:sp>
        <p:nvSpPr>
          <p:cNvPr id="73" name="Text 64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PLAN  ·  DETAILED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Detailed network design — Germany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design. The same pattern is replicated in every country with its own /16 CIDR and local region.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637178" cy="6400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90195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810512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7280" y="2075688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users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275789" y="2377440"/>
            <a:ext cx="0" cy="228600"/>
          </a:xfrm>
          <a:prstGeom prst="line">
            <a:avLst/>
          </a:prstGeom>
          <a:noFill/>
          <a:ln w="19050">
            <a:solidFill>
              <a:srgbClr val="C7463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77258" y="1737360"/>
            <a:ext cx="3637178" cy="6400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850" y="190195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17338" y="1810512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DC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917338" y="2075688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FastConnect / IPsec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95848" y="2377440"/>
            <a:ext cx="0" cy="228600"/>
          </a:xfrm>
          <a:prstGeom prst="line">
            <a:avLst/>
          </a:prstGeom>
          <a:noFill/>
          <a:ln w="19050">
            <a:solidFill>
              <a:srgbClr val="C7463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97317" y="1737360"/>
            <a:ext cx="3637178" cy="6400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1909" y="190195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37397" y="1810512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Public Services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737397" y="2075688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Storage, OSI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915906" y="2377440"/>
            <a:ext cx="0" cy="228600"/>
          </a:xfrm>
          <a:prstGeom prst="line">
            <a:avLst/>
          </a:prstGeom>
          <a:noFill/>
          <a:ln w="19050">
            <a:solidFill>
              <a:srgbClr val="C7463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57200" y="2651760"/>
            <a:ext cx="11277295" cy="3703320"/>
          </a:xfrm>
          <a:prstGeom prst="rect">
            <a:avLst/>
          </a:prstGeom>
          <a:solidFill>
            <a:srgbClr val="F9FAFC"/>
          </a:solidFill>
          <a:ln w="19050">
            <a:solidFill>
              <a:srgbClr val="0B1F3A"/>
            </a:solidFill>
            <a:prstDash val="dash"/>
          </a:ln>
        </p:spPr>
      </p:sp>
      <p:sp>
        <p:nvSpPr>
          <p:cNvPr id="21" name="Text 16"/>
          <p:cNvSpPr/>
          <p:nvPr/>
        </p:nvSpPr>
        <p:spPr>
          <a:xfrm>
            <a:off x="594360" y="2706624"/>
            <a:ext cx="11002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Region: eu-frankfurt-1   ·   Availability Domains: AD-1 / AD-2 / AD-3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31520" y="3063240"/>
            <a:ext cx="132588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22960" y="3063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IGW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234440" y="30632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2167128" y="3063240"/>
            <a:ext cx="1325880" cy="50292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258568" y="3063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2670048" y="30632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3602736" y="3063240"/>
            <a:ext cx="1325880" cy="502920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694176" y="3063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SGW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4105656" y="30632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Gateway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5038344" y="3063240"/>
            <a:ext cx="1325880" cy="50292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129784" y="3063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DRG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5541264" y="30632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Routing GW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6565392" y="3063240"/>
            <a:ext cx="4894783" cy="502920"/>
          </a:xfrm>
          <a:prstGeom prst="rect">
            <a:avLst/>
          </a:prstGeom>
          <a:solidFill>
            <a:srgbClr val="061226"/>
          </a:solidFill>
          <a:ln w="12700">
            <a:solidFill>
              <a:srgbClr val="F2B705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172968"/>
            <a:ext cx="292608" cy="29260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022592" y="3063240"/>
            <a:ext cx="43461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 +  Cloud Guard  +  VSS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40080" y="3703320"/>
            <a:ext cx="10911535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74634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640080" y="3703320"/>
            <a:ext cx="10911535" cy="29260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749040"/>
            <a:ext cx="201168" cy="20116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960120" y="3730752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VCN:  de-prod-vcn     CIDR:  10.40.0.0/16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731520" y="4114800"/>
            <a:ext cx="2613584" cy="1965960"/>
          </a:xfrm>
          <a:prstGeom prst="rect">
            <a:avLst/>
          </a:prstGeom>
          <a:solidFill>
            <a:srgbClr val="E8F4FD"/>
          </a:solidFill>
          <a:ln w="15875">
            <a:solidFill>
              <a:srgbClr val="4A90C2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731520" y="4114800"/>
            <a:ext cx="2613584" cy="292608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804672" y="4142232"/>
            <a:ext cx="246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804672" y="4462272"/>
            <a:ext cx="246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10.40.1.0/24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822960" y="4754880"/>
            <a:ext cx="243070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4A90C2"/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828032"/>
            <a:ext cx="274320" cy="27432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1234440" y="475488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22960" y="5230368"/>
            <a:ext cx="243070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4A90C2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303520"/>
            <a:ext cx="274320" cy="27432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1234440" y="5230368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Host</a:t>
            </a:r>
            <a:endParaRPr lang="en-US" sz="950" dirty="0"/>
          </a:p>
        </p:txBody>
      </p:sp>
      <p:sp>
        <p:nvSpPr>
          <p:cNvPr id="51" name="Shape 42"/>
          <p:cNvSpPr/>
          <p:nvPr/>
        </p:nvSpPr>
        <p:spPr>
          <a:xfrm>
            <a:off x="822960" y="5760720"/>
            <a:ext cx="2430704" cy="274320"/>
          </a:xfrm>
          <a:prstGeom prst="rect">
            <a:avLst/>
          </a:prstGeom>
          <a:solidFill>
            <a:srgbClr val="061226"/>
          </a:solidFill>
          <a:ln w="12700">
            <a:solidFill>
              <a:srgbClr val="061226"/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>
            <a:off x="868680" y="5760720"/>
            <a:ext cx="233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2B7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NSG: 443, 22 from bastion IPs</a:t>
            </a:r>
            <a:endParaRPr lang="en-US" sz="800" dirty="0"/>
          </a:p>
        </p:txBody>
      </p:sp>
      <p:sp>
        <p:nvSpPr>
          <p:cNvPr id="53" name="Shape 44"/>
          <p:cNvSpPr/>
          <p:nvPr/>
        </p:nvSpPr>
        <p:spPr>
          <a:xfrm>
            <a:off x="3436544" y="4114800"/>
            <a:ext cx="2613584" cy="1965960"/>
          </a:xfrm>
          <a:prstGeom prst="rect">
            <a:avLst/>
          </a:prstGeom>
          <a:solidFill>
            <a:srgbClr val="E6F7F2"/>
          </a:solidFill>
          <a:ln w="15875">
            <a:solidFill>
              <a:srgbClr val="2A9D8F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3436544" y="4114800"/>
            <a:ext cx="2613584" cy="2926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3509696" y="4142232"/>
            <a:ext cx="246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Subnet</a:t>
            </a:r>
            <a:endParaRPr lang="en-US" sz="1000" dirty="0"/>
          </a:p>
        </p:txBody>
      </p:sp>
      <p:sp>
        <p:nvSpPr>
          <p:cNvPr id="56" name="Text 47"/>
          <p:cNvSpPr/>
          <p:nvPr/>
        </p:nvSpPr>
        <p:spPr>
          <a:xfrm>
            <a:off x="3509696" y="4462272"/>
            <a:ext cx="246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10.40.2.0/24</a:t>
            </a:r>
            <a:endParaRPr lang="en-US" sz="900" dirty="0"/>
          </a:p>
        </p:txBody>
      </p:sp>
      <p:sp>
        <p:nvSpPr>
          <p:cNvPr id="57" name="Shape 48"/>
          <p:cNvSpPr/>
          <p:nvPr/>
        </p:nvSpPr>
        <p:spPr>
          <a:xfrm>
            <a:off x="3527984" y="4754880"/>
            <a:ext cx="243070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2A9D8F"/>
            </a:solidFill>
            <a:prstDash val="solid"/>
          </a:ln>
        </p:spPr>
      </p:sp>
      <p:pic>
        <p:nvPicPr>
          <p:cNvPr id="5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9424" y="4828032"/>
            <a:ext cx="274320" cy="274320"/>
          </a:xfrm>
          <a:prstGeom prst="rect">
            <a:avLst/>
          </a:prstGeom>
        </p:spPr>
      </p:pic>
      <p:sp>
        <p:nvSpPr>
          <p:cNvPr id="59" name="Text 49"/>
          <p:cNvSpPr/>
          <p:nvPr/>
        </p:nvSpPr>
        <p:spPr>
          <a:xfrm>
            <a:off x="3939464" y="475488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OKE / Compute</a:t>
            </a:r>
            <a:endParaRPr lang="en-US" sz="950" dirty="0"/>
          </a:p>
        </p:txBody>
      </p:sp>
      <p:sp>
        <p:nvSpPr>
          <p:cNvPr id="60" name="Shape 50"/>
          <p:cNvSpPr/>
          <p:nvPr/>
        </p:nvSpPr>
        <p:spPr>
          <a:xfrm>
            <a:off x="3527984" y="5230368"/>
            <a:ext cx="243070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2A9D8F"/>
            </a:solidFill>
            <a:prstDash val="solid"/>
          </a:ln>
        </p:spPr>
      </p:sp>
      <p:pic>
        <p:nvPicPr>
          <p:cNvPr id="6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9424" y="5303520"/>
            <a:ext cx="274320" cy="274320"/>
          </a:xfrm>
          <a:prstGeom prst="rect">
            <a:avLst/>
          </a:prstGeom>
        </p:spPr>
      </p:pic>
      <p:sp>
        <p:nvSpPr>
          <p:cNvPr id="62" name="Text 51"/>
          <p:cNvSpPr/>
          <p:nvPr/>
        </p:nvSpPr>
        <p:spPr>
          <a:xfrm>
            <a:off x="3939464" y="5230368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Servers</a:t>
            </a:r>
            <a:endParaRPr lang="en-US" sz="950" dirty="0"/>
          </a:p>
        </p:txBody>
      </p:sp>
      <p:sp>
        <p:nvSpPr>
          <p:cNvPr id="63" name="Shape 52"/>
          <p:cNvSpPr/>
          <p:nvPr/>
        </p:nvSpPr>
        <p:spPr>
          <a:xfrm>
            <a:off x="3527984" y="5760720"/>
            <a:ext cx="2430704" cy="274320"/>
          </a:xfrm>
          <a:prstGeom prst="rect">
            <a:avLst/>
          </a:prstGeom>
          <a:solidFill>
            <a:srgbClr val="061226"/>
          </a:solidFill>
          <a:ln w="12700">
            <a:solidFill>
              <a:srgbClr val="061226"/>
            </a:solidFill>
            <a:prstDash val="solid"/>
          </a:ln>
        </p:spPr>
      </p:sp>
      <p:sp>
        <p:nvSpPr>
          <p:cNvPr id="64" name="Text 53"/>
          <p:cNvSpPr/>
          <p:nvPr/>
        </p:nvSpPr>
        <p:spPr>
          <a:xfrm>
            <a:off x="3573704" y="5760720"/>
            <a:ext cx="233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2B7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NSG: 8080 from LB only</a:t>
            </a:r>
            <a:endParaRPr lang="en-US" sz="800" dirty="0"/>
          </a:p>
        </p:txBody>
      </p:sp>
      <p:sp>
        <p:nvSpPr>
          <p:cNvPr id="65" name="Shape 54"/>
          <p:cNvSpPr/>
          <p:nvPr/>
        </p:nvSpPr>
        <p:spPr>
          <a:xfrm>
            <a:off x="6141568" y="4114800"/>
            <a:ext cx="2613584" cy="1965960"/>
          </a:xfrm>
          <a:prstGeom prst="rect">
            <a:avLst/>
          </a:prstGeom>
          <a:solidFill>
            <a:srgbClr val="FEF3F2"/>
          </a:solidFill>
          <a:ln w="15875">
            <a:solidFill>
              <a:srgbClr val="C74634"/>
            </a:solidFill>
            <a:prstDash val="solid"/>
          </a:ln>
        </p:spPr>
      </p:sp>
      <p:sp>
        <p:nvSpPr>
          <p:cNvPr id="66" name="Shape 55"/>
          <p:cNvSpPr/>
          <p:nvPr/>
        </p:nvSpPr>
        <p:spPr>
          <a:xfrm>
            <a:off x="6141568" y="4114800"/>
            <a:ext cx="2613584" cy="29260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67" name="Text 56"/>
          <p:cNvSpPr/>
          <p:nvPr/>
        </p:nvSpPr>
        <p:spPr>
          <a:xfrm>
            <a:off x="6214720" y="4142232"/>
            <a:ext cx="246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Subnet</a:t>
            </a:r>
            <a:endParaRPr lang="en-US" sz="1000" dirty="0"/>
          </a:p>
        </p:txBody>
      </p:sp>
      <p:sp>
        <p:nvSpPr>
          <p:cNvPr id="68" name="Text 57"/>
          <p:cNvSpPr/>
          <p:nvPr/>
        </p:nvSpPr>
        <p:spPr>
          <a:xfrm>
            <a:off x="6214720" y="4462272"/>
            <a:ext cx="246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10.40.3.0/24</a:t>
            </a:r>
            <a:endParaRPr lang="en-US" sz="900" dirty="0"/>
          </a:p>
        </p:txBody>
      </p:sp>
      <p:sp>
        <p:nvSpPr>
          <p:cNvPr id="69" name="Shape 58"/>
          <p:cNvSpPr/>
          <p:nvPr/>
        </p:nvSpPr>
        <p:spPr>
          <a:xfrm>
            <a:off x="6233008" y="4754880"/>
            <a:ext cx="243070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74634"/>
            </a:solidFill>
            <a:prstDash val="solid"/>
          </a:ln>
        </p:spPr>
      </p:sp>
      <p:pic>
        <p:nvPicPr>
          <p:cNvPr id="7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448" y="4828032"/>
            <a:ext cx="274320" cy="274320"/>
          </a:xfrm>
          <a:prstGeom prst="rect">
            <a:avLst/>
          </a:prstGeom>
        </p:spPr>
      </p:pic>
      <p:sp>
        <p:nvSpPr>
          <p:cNvPr id="71" name="Text 59"/>
          <p:cNvSpPr/>
          <p:nvPr/>
        </p:nvSpPr>
        <p:spPr>
          <a:xfrm>
            <a:off x="6644488" y="475488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DB</a:t>
            </a:r>
            <a:endParaRPr lang="en-US" sz="950" dirty="0"/>
          </a:p>
        </p:txBody>
      </p:sp>
      <p:sp>
        <p:nvSpPr>
          <p:cNvPr id="72" name="Shape 60"/>
          <p:cNvSpPr/>
          <p:nvPr/>
        </p:nvSpPr>
        <p:spPr>
          <a:xfrm>
            <a:off x="6233008" y="5230368"/>
            <a:ext cx="243070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74634"/>
            </a:solidFill>
            <a:prstDash val="solid"/>
          </a:ln>
        </p:spPr>
      </p:sp>
      <p:pic>
        <p:nvPicPr>
          <p:cNvPr id="7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448" y="5303520"/>
            <a:ext cx="274320" cy="274320"/>
          </a:xfrm>
          <a:prstGeom prst="rect">
            <a:avLst/>
          </a:prstGeom>
        </p:spPr>
      </p:pic>
      <p:sp>
        <p:nvSpPr>
          <p:cNvPr id="74" name="Text 61"/>
          <p:cNvSpPr/>
          <p:nvPr/>
        </p:nvSpPr>
        <p:spPr>
          <a:xfrm>
            <a:off x="6644488" y="5230368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Exadata / MySQL</a:t>
            </a:r>
            <a:endParaRPr lang="en-US" sz="950" dirty="0"/>
          </a:p>
        </p:txBody>
      </p:sp>
      <p:sp>
        <p:nvSpPr>
          <p:cNvPr id="75" name="Shape 62"/>
          <p:cNvSpPr/>
          <p:nvPr/>
        </p:nvSpPr>
        <p:spPr>
          <a:xfrm>
            <a:off x="6233008" y="5760720"/>
            <a:ext cx="2430704" cy="274320"/>
          </a:xfrm>
          <a:prstGeom prst="rect">
            <a:avLst/>
          </a:prstGeom>
          <a:solidFill>
            <a:srgbClr val="061226"/>
          </a:solidFill>
          <a:ln w="12700">
            <a:solidFill>
              <a:srgbClr val="061226"/>
            </a:solidFill>
            <a:prstDash val="solid"/>
          </a:ln>
        </p:spPr>
      </p:sp>
      <p:sp>
        <p:nvSpPr>
          <p:cNvPr id="76" name="Text 63"/>
          <p:cNvSpPr/>
          <p:nvPr/>
        </p:nvSpPr>
        <p:spPr>
          <a:xfrm>
            <a:off x="6278728" y="5760720"/>
            <a:ext cx="233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2B7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NSG: 1521 from App only</a:t>
            </a:r>
            <a:endParaRPr lang="en-US" sz="800" dirty="0"/>
          </a:p>
        </p:txBody>
      </p:sp>
      <p:sp>
        <p:nvSpPr>
          <p:cNvPr id="77" name="Shape 64"/>
          <p:cNvSpPr/>
          <p:nvPr/>
        </p:nvSpPr>
        <p:spPr>
          <a:xfrm>
            <a:off x="8846591" y="4114800"/>
            <a:ext cx="2613584" cy="1965960"/>
          </a:xfrm>
          <a:prstGeom prst="rect">
            <a:avLst/>
          </a:prstGeom>
          <a:solidFill>
            <a:srgbClr val="FFF8E1"/>
          </a:solidFill>
          <a:ln w="15875">
            <a:solidFill>
              <a:srgbClr val="F2B705"/>
            </a:solidFill>
            <a:prstDash val="solid"/>
          </a:ln>
        </p:spPr>
      </p:sp>
      <p:sp>
        <p:nvSpPr>
          <p:cNvPr id="78" name="Shape 65"/>
          <p:cNvSpPr/>
          <p:nvPr/>
        </p:nvSpPr>
        <p:spPr>
          <a:xfrm>
            <a:off x="8846591" y="4114800"/>
            <a:ext cx="2613584" cy="292608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9" name="Text 66"/>
          <p:cNvSpPr/>
          <p:nvPr/>
        </p:nvSpPr>
        <p:spPr>
          <a:xfrm>
            <a:off x="8919743" y="4142232"/>
            <a:ext cx="246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 Subnet</a:t>
            </a:r>
            <a:endParaRPr lang="en-US" sz="1000" dirty="0"/>
          </a:p>
        </p:txBody>
      </p:sp>
      <p:sp>
        <p:nvSpPr>
          <p:cNvPr id="80" name="Text 67"/>
          <p:cNvSpPr/>
          <p:nvPr/>
        </p:nvSpPr>
        <p:spPr>
          <a:xfrm>
            <a:off x="8919743" y="4462272"/>
            <a:ext cx="246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10.40.4.0/24</a:t>
            </a:r>
            <a:endParaRPr lang="en-US" sz="900" dirty="0"/>
          </a:p>
        </p:txBody>
      </p:sp>
      <p:sp>
        <p:nvSpPr>
          <p:cNvPr id="81" name="Shape 68"/>
          <p:cNvSpPr/>
          <p:nvPr/>
        </p:nvSpPr>
        <p:spPr>
          <a:xfrm>
            <a:off x="8938031" y="4754880"/>
            <a:ext cx="243070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F2B705"/>
            </a:solidFill>
            <a:prstDash val="solid"/>
          </a:ln>
        </p:spPr>
      </p:sp>
      <p:pic>
        <p:nvPicPr>
          <p:cNvPr id="8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29471" y="4828032"/>
            <a:ext cx="274320" cy="274320"/>
          </a:xfrm>
          <a:prstGeom prst="rect">
            <a:avLst/>
          </a:prstGeom>
        </p:spPr>
      </p:pic>
      <p:sp>
        <p:nvSpPr>
          <p:cNvPr id="83" name="Text 69"/>
          <p:cNvSpPr/>
          <p:nvPr/>
        </p:nvSpPr>
        <p:spPr>
          <a:xfrm>
            <a:off x="9349511" y="475488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Agents</a:t>
            </a:r>
            <a:endParaRPr lang="en-US" sz="950" dirty="0"/>
          </a:p>
        </p:txBody>
      </p:sp>
      <p:sp>
        <p:nvSpPr>
          <p:cNvPr id="84" name="Shape 70"/>
          <p:cNvSpPr/>
          <p:nvPr/>
        </p:nvSpPr>
        <p:spPr>
          <a:xfrm>
            <a:off x="8938031" y="5230368"/>
            <a:ext cx="243070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F2B705"/>
            </a:solidFill>
            <a:prstDash val="solid"/>
          </a:ln>
        </p:spPr>
      </p:sp>
      <p:pic>
        <p:nvPicPr>
          <p:cNvPr id="8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29471" y="5303520"/>
            <a:ext cx="274320" cy="274320"/>
          </a:xfrm>
          <a:prstGeom prst="rect">
            <a:avLst/>
          </a:prstGeom>
        </p:spPr>
      </p:pic>
      <p:sp>
        <p:nvSpPr>
          <p:cNvPr id="86" name="Text 71"/>
          <p:cNvSpPr/>
          <p:nvPr/>
        </p:nvSpPr>
        <p:spPr>
          <a:xfrm>
            <a:off x="9349511" y="5230368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Scanners</a:t>
            </a:r>
            <a:endParaRPr lang="en-US" sz="950" dirty="0"/>
          </a:p>
        </p:txBody>
      </p:sp>
      <p:sp>
        <p:nvSpPr>
          <p:cNvPr id="87" name="Shape 72"/>
          <p:cNvSpPr/>
          <p:nvPr/>
        </p:nvSpPr>
        <p:spPr>
          <a:xfrm>
            <a:off x="8938031" y="5760720"/>
            <a:ext cx="2430704" cy="274320"/>
          </a:xfrm>
          <a:prstGeom prst="rect">
            <a:avLst/>
          </a:prstGeom>
          <a:solidFill>
            <a:srgbClr val="061226"/>
          </a:solidFill>
          <a:ln w="12700">
            <a:solidFill>
              <a:srgbClr val="061226"/>
            </a:solidFill>
            <a:prstDash val="solid"/>
          </a:ln>
        </p:spPr>
      </p:sp>
      <p:sp>
        <p:nvSpPr>
          <p:cNvPr id="88" name="Text 73"/>
          <p:cNvSpPr/>
          <p:nvPr/>
        </p:nvSpPr>
        <p:spPr>
          <a:xfrm>
            <a:off x="8983751" y="5760720"/>
            <a:ext cx="233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2B70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NSG: mgmt tooling only</a:t>
            </a:r>
            <a:endParaRPr lang="en-US" sz="800" dirty="0"/>
          </a:p>
        </p:txBody>
      </p:sp>
      <p:sp>
        <p:nvSpPr>
          <p:cNvPr id="89" name="Shape 74"/>
          <p:cNvSpPr/>
          <p:nvPr/>
        </p:nvSpPr>
        <p:spPr>
          <a:xfrm>
            <a:off x="457200" y="6510528"/>
            <a:ext cx="109728" cy="10972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90" name="Text 75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Security  |  Country-wise Vulnerability Separation</a:t>
            </a:r>
            <a:endParaRPr lang="en-US" sz="1000" dirty="0"/>
          </a:p>
        </p:txBody>
      </p:sp>
      <p:sp>
        <p:nvSpPr>
          <p:cNvPr id="91" name="Text 76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TECHNICAL VIEW  ·  END-TO-END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country, full stack — all the pieces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identity at the top, through network and workloads, to security monitoring at the bottom.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417320" cy="84124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1417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65960" y="1737360"/>
            <a:ext cx="237355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65960" y="1737360"/>
            <a:ext cx="54864" cy="84124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1929384"/>
            <a:ext cx="457200" cy="457200"/>
          </a:xfrm>
          <a:prstGeom prst="ellipse">
            <a:avLst/>
          </a:prstGeom>
          <a:solidFill>
            <a:srgbClr val="F5F7FB"/>
          </a:solidFill>
          <a:ln w="6350">
            <a:solidFill>
              <a:srgbClr val="D6DEE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128" y="1993392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0" y="1828800"/>
            <a:ext cx="15963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Domain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651760" y="214884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UAE-IdentityDomain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30954" y="1737360"/>
            <a:ext cx="237355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30954" y="1737360"/>
            <a:ext cx="54864" cy="84124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68114" y="1929384"/>
            <a:ext cx="457200" cy="457200"/>
          </a:xfrm>
          <a:prstGeom prst="ellipse">
            <a:avLst/>
          </a:prstGeom>
          <a:solidFill>
            <a:srgbClr val="F5F7FB"/>
          </a:solidFill>
          <a:ln w="6350">
            <a:solidFill>
              <a:srgbClr val="D6DEE8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122" y="1993392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16754" y="1828800"/>
            <a:ext cx="15963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116754" y="214884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UAE-SecOps, UAE-Admins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895948" y="1737360"/>
            <a:ext cx="237355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895948" y="1737360"/>
            <a:ext cx="54864" cy="84124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033108" y="1929384"/>
            <a:ext cx="457200" cy="457200"/>
          </a:xfrm>
          <a:prstGeom prst="ellipse">
            <a:avLst/>
          </a:prstGeom>
          <a:solidFill>
            <a:srgbClr val="F5F7FB"/>
          </a:solidFill>
          <a:ln w="6350">
            <a:solidFill>
              <a:srgbClr val="D6DEE8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7116" y="1993392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581748" y="1828800"/>
            <a:ext cx="15963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7581748" y="214884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UAE compartment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9360941" y="1737360"/>
            <a:ext cx="237355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360941" y="1737360"/>
            <a:ext cx="54864" cy="84124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498101" y="1929384"/>
            <a:ext cx="457200" cy="457200"/>
          </a:xfrm>
          <a:prstGeom prst="ellipse">
            <a:avLst/>
          </a:prstGeom>
          <a:solidFill>
            <a:srgbClr val="F5F7FB"/>
          </a:solidFill>
          <a:ln w="6350">
            <a:solidFill>
              <a:srgbClr val="D6DEE8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2109" y="1993392"/>
            <a:ext cx="329184" cy="32918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046741" y="1828800"/>
            <a:ext cx="15963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10046741" y="214884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/ OIDC to corp IdP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457200" y="2651760"/>
            <a:ext cx="1417320" cy="8412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57200" y="2651760"/>
            <a:ext cx="1417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1965960" y="2651760"/>
            <a:ext cx="237355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1965960" y="2651760"/>
            <a:ext cx="54864" cy="8412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2103120" y="2843784"/>
            <a:ext cx="457200" cy="457200"/>
          </a:xfrm>
          <a:prstGeom prst="ellipse">
            <a:avLst/>
          </a:prstGeom>
          <a:solidFill>
            <a:srgbClr val="F5F7FB"/>
          </a:solidFill>
          <a:ln w="6350">
            <a:solidFill>
              <a:srgbClr val="D6DEE8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7128" y="2907792"/>
            <a:ext cx="329184" cy="32918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2651760" y="2743200"/>
            <a:ext cx="15963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Compartment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2651760" y="306324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(+ Prod/Dev/Test)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4430954" y="2651760"/>
            <a:ext cx="237355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4430954" y="2651760"/>
            <a:ext cx="54864" cy="8412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4568114" y="2843784"/>
            <a:ext cx="457200" cy="457200"/>
          </a:xfrm>
          <a:prstGeom prst="ellipse">
            <a:avLst/>
          </a:prstGeom>
          <a:solidFill>
            <a:srgbClr val="F5F7FB"/>
          </a:solidFill>
          <a:ln w="6350">
            <a:solidFill>
              <a:srgbClr val="D6DEE8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2122" y="2907792"/>
            <a:ext cx="329184" cy="329184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5116754" y="2743200"/>
            <a:ext cx="15963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5116754" y="306324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Country=UAE, Env=Prod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6895948" y="2651760"/>
            <a:ext cx="237355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6895948" y="2651760"/>
            <a:ext cx="54864" cy="8412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7033108" y="2843784"/>
            <a:ext cx="457200" cy="457200"/>
          </a:xfrm>
          <a:prstGeom prst="ellipse">
            <a:avLst/>
          </a:prstGeom>
          <a:solidFill>
            <a:srgbClr val="F5F7FB"/>
          </a:solidFill>
          <a:ln w="6350">
            <a:solidFill>
              <a:srgbClr val="D6DEE8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7116" y="2907792"/>
            <a:ext cx="329184" cy="329184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7581748" y="2743200"/>
            <a:ext cx="15963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Quotas &amp; Budgets</a:t>
            </a:r>
            <a:endParaRPr lang="en-US" sz="1100" dirty="0"/>
          </a:p>
        </p:txBody>
      </p:sp>
      <p:sp>
        <p:nvSpPr>
          <p:cNvPr id="50" name="Text 41"/>
          <p:cNvSpPr/>
          <p:nvPr/>
        </p:nvSpPr>
        <p:spPr>
          <a:xfrm>
            <a:off x="7581748" y="306324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Per-compartment limits</a:t>
            </a:r>
            <a:endParaRPr lang="en-US" sz="900" dirty="0"/>
          </a:p>
        </p:txBody>
      </p:sp>
      <p:sp>
        <p:nvSpPr>
          <p:cNvPr id="51" name="Shape 42"/>
          <p:cNvSpPr/>
          <p:nvPr/>
        </p:nvSpPr>
        <p:spPr>
          <a:xfrm>
            <a:off x="9360941" y="2651760"/>
            <a:ext cx="237355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9360941" y="2651760"/>
            <a:ext cx="54864" cy="8412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9498101" y="2843784"/>
            <a:ext cx="457200" cy="457200"/>
          </a:xfrm>
          <a:prstGeom prst="ellipse">
            <a:avLst/>
          </a:prstGeom>
          <a:solidFill>
            <a:srgbClr val="F5F7FB"/>
          </a:solidFill>
          <a:ln w="6350">
            <a:solidFill>
              <a:srgbClr val="D6DEE8"/>
            </a:solidFill>
            <a:prstDash val="solid"/>
          </a:ln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62109" y="2907792"/>
            <a:ext cx="329184" cy="329184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10046741" y="2743200"/>
            <a:ext cx="15963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(Org)</a:t>
            </a:r>
            <a:endParaRPr lang="en-US" sz="1100" dirty="0"/>
          </a:p>
        </p:txBody>
      </p:sp>
      <p:sp>
        <p:nvSpPr>
          <p:cNvPr id="56" name="Text 46"/>
          <p:cNvSpPr/>
          <p:nvPr/>
        </p:nvSpPr>
        <p:spPr>
          <a:xfrm>
            <a:off x="10046741" y="306324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inherited</a:t>
            </a:r>
            <a:endParaRPr lang="en-US" sz="900" dirty="0"/>
          </a:p>
        </p:txBody>
      </p:sp>
      <p:sp>
        <p:nvSpPr>
          <p:cNvPr id="57" name="Shape 47"/>
          <p:cNvSpPr/>
          <p:nvPr/>
        </p:nvSpPr>
        <p:spPr>
          <a:xfrm>
            <a:off x="457200" y="3566160"/>
            <a:ext cx="1417320" cy="841248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58" name="Text 48"/>
          <p:cNvSpPr/>
          <p:nvPr/>
        </p:nvSpPr>
        <p:spPr>
          <a:xfrm>
            <a:off x="457200" y="3566160"/>
            <a:ext cx="1417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59" name="Shape 49"/>
          <p:cNvSpPr/>
          <p:nvPr/>
        </p:nvSpPr>
        <p:spPr>
          <a:xfrm>
            <a:off x="1965960" y="3566160"/>
            <a:ext cx="237355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60" name="Shape 50"/>
          <p:cNvSpPr/>
          <p:nvPr/>
        </p:nvSpPr>
        <p:spPr>
          <a:xfrm>
            <a:off x="1965960" y="3566160"/>
            <a:ext cx="54864" cy="841248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61" name="Shape 51"/>
          <p:cNvSpPr/>
          <p:nvPr/>
        </p:nvSpPr>
        <p:spPr>
          <a:xfrm>
            <a:off x="2103120" y="3758184"/>
            <a:ext cx="457200" cy="457200"/>
          </a:xfrm>
          <a:prstGeom prst="ellipse">
            <a:avLst/>
          </a:prstGeom>
          <a:solidFill>
            <a:srgbClr val="F5F7FB"/>
          </a:solidFill>
          <a:ln w="6350">
            <a:solidFill>
              <a:srgbClr val="D6DEE8"/>
            </a:solidFill>
            <a:prstDash val="solid"/>
          </a:ln>
        </p:spPr>
      </p:sp>
      <p:pic>
        <p:nvPicPr>
          <p:cNvPr id="6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67128" y="3822192"/>
            <a:ext cx="329184" cy="329184"/>
          </a:xfrm>
          <a:prstGeom prst="rect">
            <a:avLst/>
          </a:prstGeom>
        </p:spPr>
      </p:pic>
      <p:sp>
        <p:nvSpPr>
          <p:cNvPr id="63" name="Text 52"/>
          <p:cNvSpPr/>
          <p:nvPr/>
        </p:nvSpPr>
        <p:spPr>
          <a:xfrm>
            <a:off x="2651760" y="3657600"/>
            <a:ext cx="15963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VCN</a:t>
            </a:r>
            <a:endParaRPr lang="en-US" sz="1100" dirty="0"/>
          </a:p>
        </p:txBody>
      </p:sp>
      <p:sp>
        <p:nvSpPr>
          <p:cNvPr id="64" name="Text 53"/>
          <p:cNvSpPr/>
          <p:nvPr/>
        </p:nvSpPr>
        <p:spPr>
          <a:xfrm>
            <a:off x="2651760" y="397764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10.10.0.0/16</a:t>
            </a:r>
            <a:endParaRPr lang="en-US" sz="900" dirty="0"/>
          </a:p>
        </p:txBody>
      </p:sp>
      <p:sp>
        <p:nvSpPr>
          <p:cNvPr id="65" name="Shape 54"/>
          <p:cNvSpPr/>
          <p:nvPr/>
        </p:nvSpPr>
        <p:spPr>
          <a:xfrm>
            <a:off x="4430954" y="3566160"/>
            <a:ext cx="237355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66" name="Shape 55"/>
          <p:cNvSpPr/>
          <p:nvPr/>
        </p:nvSpPr>
        <p:spPr>
          <a:xfrm>
            <a:off x="4430954" y="3566160"/>
            <a:ext cx="54864" cy="841248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67" name="Shape 56"/>
          <p:cNvSpPr/>
          <p:nvPr/>
        </p:nvSpPr>
        <p:spPr>
          <a:xfrm>
            <a:off x="4568114" y="3758184"/>
            <a:ext cx="457200" cy="457200"/>
          </a:xfrm>
          <a:prstGeom prst="ellipse">
            <a:avLst/>
          </a:prstGeom>
          <a:solidFill>
            <a:srgbClr val="F5F7FB"/>
          </a:solidFill>
          <a:ln w="6350">
            <a:solidFill>
              <a:srgbClr val="D6DEE8"/>
            </a:solidFill>
            <a:prstDash val="solid"/>
          </a:ln>
        </p:spPr>
      </p:sp>
      <p:pic>
        <p:nvPicPr>
          <p:cNvPr id="6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2122" y="3822192"/>
            <a:ext cx="329184" cy="329184"/>
          </a:xfrm>
          <a:prstGeom prst="rect">
            <a:avLst/>
          </a:prstGeom>
        </p:spPr>
      </p:pic>
      <p:sp>
        <p:nvSpPr>
          <p:cNvPr id="69" name="Text 57"/>
          <p:cNvSpPr/>
          <p:nvPr/>
        </p:nvSpPr>
        <p:spPr>
          <a:xfrm>
            <a:off x="5116754" y="3657600"/>
            <a:ext cx="15963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</a:t>
            </a:r>
            <a:endParaRPr lang="en-US" sz="1100" dirty="0"/>
          </a:p>
        </p:txBody>
      </p:sp>
      <p:sp>
        <p:nvSpPr>
          <p:cNvPr id="70" name="Text 58"/>
          <p:cNvSpPr/>
          <p:nvPr/>
        </p:nvSpPr>
        <p:spPr>
          <a:xfrm>
            <a:off x="5116754" y="397764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+ Private</a:t>
            </a:r>
            <a:endParaRPr lang="en-US" sz="900" dirty="0"/>
          </a:p>
        </p:txBody>
      </p:sp>
      <p:sp>
        <p:nvSpPr>
          <p:cNvPr id="71" name="Shape 59"/>
          <p:cNvSpPr/>
          <p:nvPr/>
        </p:nvSpPr>
        <p:spPr>
          <a:xfrm>
            <a:off x="6895948" y="3566160"/>
            <a:ext cx="237355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72" name="Shape 60"/>
          <p:cNvSpPr/>
          <p:nvPr/>
        </p:nvSpPr>
        <p:spPr>
          <a:xfrm>
            <a:off x="6895948" y="3566160"/>
            <a:ext cx="54864" cy="841248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73" name="Shape 61"/>
          <p:cNvSpPr/>
          <p:nvPr/>
        </p:nvSpPr>
        <p:spPr>
          <a:xfrm>
            <a:off x="7033108" y="3758184"/>
            <a:ext cx="457200" cy="457200"/>
          </a:xfrm>
          <a:prstGeom prst="ellipse">
            <a:avLst/>
          </a:prstGeom>
          <a:solidFill>
            <a:srgbClr val="F5F7FB"/>
          </a:solidFill>
          <a:ln w="6350">
            <a:solidFill>
              <a:srgbClr val="D6DEE8"/>
            </a:solidFill>
            <a:prstDash val="solid"/>
          </a:ln>
        </p:spPr>
      </p:sp>
      <p:pic>
        <p:nvPicPr>
          <p:cNvPr id="7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97116" y="3822192"/>
            <a:ext cx="329184" cy="329184"/>
          </a:xfrm>
          <a:prstGeom prst="rect">
            <a:avLst/>
          </a:prstGeom>
        </p:spPr>
      </p:pic>
      <p:sp>
        <p:nvSpPr>
          <p:cNvPr id="75" name="Text 62"/>
          <p:cNvSpPr/>
          <p:nvPr/>
        </p:nvSpPr>
        <p:spPr>
          <a:xfrm>
            <a:off x="7581748" y="3657600"/>
            <a:ext cx="15963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NSGs / SLs</a:t>
            </a:r>
            <a:endParaRPr lang="en-US" sz="1100" dirty="0"/>
          </a:p>
        </p:txBody>
      </p:sp>
      <p:sp>
        <p:nvSpPr>
          <p:cNvPr id="76" name="Text 63"/>
          <p:cNvSpPr/>
          <p:nvPr/>
        </p:nvSpPr>
        <p:spPr>
          <a:xfrm>
            <a:off x="7581748" y="397764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rules</a:t>
            </a:r>
            <a:endParaRPr lang="en-US" sz="900" dirty="0"/>
          </a:p>
        </p:txBody>
      </p:sp>
      <p:sp>
        <p:nvSpPr>
          <p:cNvPr id="77" name="Shape 64"/>
          <p:cNvSpPr/>
          <p:nvPr/>
        </p:nvSpPr>
        <p:spPr>
          <a:xfrm>
            <a:off x="9360941" y="3566160"/>
            <a:ext cx="237355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78" name="Shape 65"/>
          <p:cNvSpPr/>
          <p:nvPr/>
        </p:nvSpPr>
        <p:spPr>
          <a:xfrm>
            <a:off x="9360941" y="3566160"/>
            <a:ext cx="54864" cy="841248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79" name="Shape 66"/>
          <p:cNvSpPr/>
          <p:nvPr/>
        </p:nvSpPr>
        <p:spPr>
          <a:xfrm>
            <a:off x="9498101" y="3758184"/>
            <a:ext cx="457200" cy="457200"/>
          </a:xfrm>
          <a:prstGeom prst="ellipse">
            <a:avLst/>
          </a:prstGeom>
          <a:solidFill>
            <a:srgbClr val="F5F7FB"/>
          </a:solidFill>
          <a:ln w="6350">
            <a:solidFill>
              <a:srgbClr val="D6DEE8"/>
            </a:solidFill>
            <a:prstDash val="solid"/>
          </a:ln>
        </p:spPr>
      </p:sp>
      <p:pic>
        <p:nvPicPr>
          <p:cNvPr id="8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62109" y="3822192"/>
            <a:ext cx="329184" cy="329184"/>
          </a:xfrm>
          <a:prstGeom prst="rect">
            <a:avLst/>
          </a:prstGeom>
        </p:spPr>
      </p:pic>
      <p:sp>
        <p:nvSpPr>
          <p:cNvPr id="81" name="Text 67"/>
          <p:cNvSpPr/>
          <p:nvPr/>
        </p:nvSpPr>
        <p:spPr>
          <a:xfrm>
            <a:off x="10046741" y="3657600"/>
            <a:ext cx="15963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Gateways</a:t>
            </a:r>
            <a:endParaRPr lang="en-US" sz="1100" dirty="0"/>
          </a:p>
        </p:txBody>
      </p:sp>
      <p:sp>
        <p:nvSpPr>
          <p:cNvPr id="82" name="Text 68"/>
          <p:cNvSpPr/>
          <p:nvPr/>
        </p:nvSpPr>
        <p:spPr>
          <a:xfrm>
            <a:off x="10046741" y="397764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IGW / NAT / SGW / DRG</a:t>
            </a:r>
            <a:endParaRPr lang="en-US" sz="900" dirty="0"/>
          </a:p>
        </p:txBody>
      </p:sp>
      <p:sp>
        <p:nvSpPr>
          <p:cNvPr id="83" name="Shape 69"/>
          <p:cNvSpPr/>
          <p:nvPr/>
        </p:nvSpPr>
        <p:spPr>
          <a:xfrm>
            <a:off x="457200" y="4480560"/>
            <a:ext cx="1417320" cy="8412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4" name="Text 70"/>
          <p:cNvSpPr/>
          <p:nvPr/>
        </p:nvSpPr>
        <p:spPr>
          <a:xfrm>
            <a:off x="457200" y="4480560"/>
            <a:ext cx="1417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</a:t>
            </a:r>
            <a:endParaRPr lang="en-US" sz="1100" dirty="0"/>
          </a:p>
        </p:txBody>
      </p:sp>
      <p:sp>
        <p:nvSpPr>
          <p:cNvPr id="85" name="Shape 71"/>
          <p:cNvSpPr/>
          <p:nvPr/>
        </p:nvSpPr>
        <p:spPr>
          <a:xfrm>
            <a:off x="1965960" y="4480560"/>
            <a:ext cx="237355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86" name="Shape 72"/>
          <p:cNvSpPr/>
          <p:nvPr/>
        </p:nvSpPr>
        <p:spPr>
          <a:xfrm>
            <a:off x="1965960" y="4480560"/>
            <a:ext cx="54864" cy="8412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7" name="Shape 73"/>
          <p:cNvSpPr/>
          <p:nvPr/>
        </p:nvSpPr>
        <p:spPr>
          <a:xfrm>
            <a:off x="2103120" y="4672584"/>
            <a:ext cx="457200" cy="457200"/>
          </a:xfrm>
          <a:prstGeom prst="ellipse">
            <a:avLst/>
          </a:prstGeom>
          <a:solidFill>
            <a:srgbClr val="F5F7FB"/>
          </a:solidFill>
          <a:ln w="6350">
            <a:solidFill>
              <a:srgbClr val="D6DEE8"/>
            </a:solidFill>
            <a:prstDash val="solid"/>
          </a:ln>
        </p:spPr>
      </p:sp>
      <p:pic>
        <p:nvPicPr>
          <p:cNvPr id="8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67128" y="4736592"/>
            <a:ext cx="329184" cy="329184"/>
          </a:xfrm>
          <a:prstGeom prst="rect">
            <a:avLst/>
          </a:prstGeom>
        </p:spPr>
      </p:pic>
      <p:sp>
        <p:nvSpPr>
          <p:cNvPr id="89" name="Text 74"/>
          <p:cNvSpPr/>
          <p:nvPr/>
        </p:nvSpPr>
        <p:spPr>
          <a:xfrm>
            <a:off x="2651760" y="4572000"/>
            <a:ext cx="15963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100" dirty="0"/>
          </a:p>
        </p:txBody>
      </p:sp>
      <p:sp>
        <p:nvSpPr>
          <p:cNvPr id="90" name="Text 75"/>
          <p:cNvSpPr/>
          <p:nvPr/>
        </p:nvSpPr>
        <p:spPr>
          <a:xfrm>
            <a:off x="2651760" y="489204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VMs, OKE, Functions</a:t>
            </a:r>
            <a:endParaRPr lang="en-US" sz="900" dirty="0"/>
          </a:p>
        </p:txBody>
      </p:sp>
      <p:sp>
        <p:nvSpPr>
          <p:cNvPr id="91" name="Shape 76"/>
          <p:cNvSpPr/>
          <p:nvPr/>
        </p:nvSpPr>
        <p:spPr>
          <a:xfrm>
            <a:off x="4430954" y="4480560"/>
            <a:ext cx="237355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92" name="Shape 77"/>
          <p:cNvSpPr/>
          <p:nvPr/>
        </p:nvSpPr>
        <p:spPr>
          <a:xfrm>
            <a:off x="4430954" y="4480560"/>
            <a:ext cx="54864" cy="8412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3" name="Shape 78"/>
          <p:cNvSpPr/>
          <p:nvPr/>
        </p:nvSpPr>
        <p:spPr>
          <a:xfrm>
            <a:off x="4568114" y="4672584"/>
            <a:ext cx="457200" cy="457200"/>
          </a:xfrm>
          <a:prstGeom prst="ellipse">
            <a:avLst/>
          </a:prstGeom>
          <a:solidFill>
            <a:srgbClr val="F5F7FB"/>
          </a:solidFill>
          <a:ln w="6350">
            <a:solidFill>
              <a:srgbClr val="D6DEE8"/>
            </a:solidFill>
            <a:prstDash val="solid"/>
          </a:ln>
        </p:spPr>
      </p:sp>
      <p:pic>
        <p:nvPicPr>
          <p:cNvPr id="9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32122" y="4736592"/>
            <a:ext cx="329184" cy="329184"/>
          </a:xfrm>
          <a:prstGeom prst="rect">
            <a:avLst/>
          </a:prstGeom>
        </p:spPr>
      </p:pic>
      <p:sp>
        <p:nvSpPr>
          <p:cNvPr id="95" name="Text 79"/>
          <p:cNvSpPr/>
          <p:nvPr/>
        </p:nvSpPr>
        <p:spPr>
          <a:xfrm>
            <a:off x="5116754" y="4572000"/>
            <a:ext cx="15963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100" dirty="0"/>
          </a:p>
        </p:txBody>
      </p:sp>
      <p:sp>
        <p:nvSpPr>
          <p:cNvPr id="96" name="Text 80"/>
          <p:cNvSpPr/>
          <p:nvPr/>
        </p:nvSpPr>
        <p:spPr>
          <a:xfrm>
            <a:off x="5116754" y="489204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ADB, MySQL, Exadata</a:t>
            </a:r>
            <a:endParaRPr lang="en-US" sz="900" dirty="0"/>
          </a:p>
        </p:txBody>
      </p:sp>
      <p:sp>
        <p:nvSpPr>
          <p:cNvPr id="97" name="Shape 81"/>
          <p:cNvSpPr/>
          <p:nvPr/>
        </p:nvSpPr>
        <p:spPr>
          <a:xfrm>
            <a:off x="6895948" y="4480560"/>
            <a:ext cx="237355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98" name="Shape 82"/>
          <p:cNvSpPr/>
          <p:nvPr/>
        </p:nvSpPr>
        <p:spPr>
          <a:xfrm>
            <a:off x="6895948" y="4480560"/>
            <a:ext cx="54864" cy="8412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9" name="Shape 83"/>
          <p:cNvSpPr/>
          <p:nvPr/>
        </p:nvSpPr>
        <p:spPr>
          <a:xfrm>
            <a:off x="7033108" y="4672584"/>
            <a:ext cx="457200" cy="457200"/>
          </a:xfrm>
          <a:prstGeom prst="ellipse">
            <a:avLst/>
          </a:prstGeom>
          <a:solidFill>
            <a:srgbClr val="F5F7FB"/>
          </a:solidFill>
          <a:ln w="6350">
            <a:solidFill>
              <a:srgbClr val="D6DEE8"/>
            </a:solidFill>
            <a:prstDash val="solid"/>
          </a:ln>
        </p:spPr>
      </p:sp>
      <p:pic>
        <p:nvPicPr>
          <p:cNvPr id="10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97116" y="4736592"/>
            <a:ext cx="329184" cy="329184"/>
          </a:xfrm>
          <a:prstGeom prst="rect">
            <a:avLst/>
          </a:prstGeom>
        </p:spPr>
      </p:pic>
      <p:sp>
        <p:nvSpPr>
          <p:cNvPr id="101" name="Text 84"/>
          <p:cNvSpPr/>
          <p:nvPr/>
        </p:nvSpPr>
        <p:spPr>
          <a:xfrm>
            <a:off x="7581748" y="4572000"/>
            <a:ext cx="15963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102" name="Text 85"/>
          <p:cNvSpPr/>
          <p:nvPr/>
        </p:nvSpPr>
        <p:spPr>
          <a:xfrm>
            <a:off x="7581748" y="489204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Block, Object, File</a:t>
            </a:r>
            <a:endParaRPr lang="en-US" sz="900" dirty="0"/>
          </a:p>
        </p:txBody>
      </p:sp>
      <p:sp>
        <p:nvSpPr>
          <p:cNvPr id="103" name="Shape 86"/>
          <p:cNvSpPr/>
          <p:nvPr/>
        </p:nvSpPr>
        <p:spPr>
          <a:xfrm>
            <a:off x="9360941" y="4480560"/>
            <a:ext cx="237355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04" name="Shape 87"/>
          <p:cNvSpPr/>
          <p:nvPr/>
        </p:nvSpPr>
        <p:spPr>
          <a:xfrm>
            <a:off x="9360941" y="4480560"/>
            <a:ext cx="54864" cy="8412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5" name="Shape 88"/>
          <p:cNvSpPr/>
          <p:nvPr/>
        </p:nvSpPr>
        <p:spPr>
          <a:xfrm>
            <a:off x="9498101" y="4672584"/>
            <a:ext cx="457200" cy="457200"/>
          </a:xfrm>
          <a:prstGeom prst="ellipse">
            <a:avLst/>
          </a:prstGeom>
          <a:solidFill>
            <a:srgbClr val="F5F7FB"/>
          </a:solidFill>
          <a:ln w="6350">
            <a:solidFill>
              <a:srgbClr val="D6DEE8"/>
            </a:solidFill>
            <a:prstDash val="solid"/>
          </a:ln>
        </p:spPr>
      </p:sp>
      <p:pic>
        <p:nvPicPr>
          <p:cNvPr id="10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62109" y="4736592"/>
            <a:ext cx="329184" cy="329184"/>
          </a:xfrm>
          <a:prstGeom prst="rect">
            <a:avLst/>
          </a:prstGeom>
        </p:spPr>
      </p:pic>
      <p:sp>
        <p:nvSpPr>
          <p:cNvPr id="107" name="Text 89"/>
          <p:cNvSpPr/>
          <p:nvPr/>
        </p:nvSpPr>
        <p:spPr>
          <a:xfrm>
            <a:off x="10046741" y="4572000"/>
            <a:ext cx="15963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1100" dirty="0"/>
          </a:p>
        </p:txBody>
      </p:sp>
      <p:sp>
        <p:nvSpPr>
          <p:cNvPr id="108" name="Text 90"/>
          <p:cNvSpPr/>
          <p:nvPr/>
        </p:nvSpPr>
        <p:spPr>
          <a:xfrm>
            <a:off x="10046741" y="489204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FLB / NLB / WAF</a:t>
            </a:r>
            <a:endParaRPr lang="en-US" sz="900" dirty="0"/>
          </a:p>
        </p:txBody>
      </p:sp>
      <p:sp>
        <p:nvSpPr>
          <p:cNvPr id="109" name="Shape 91"/>
          <p:cNvSpPr/>
          <p:nvPr/>
        </p:nvSpPr>
        <p:spPr>
          <a:xfrm>
            <a:off x="457200" y="5394960"/>
            <a:ext cx="1417320" cy="841248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10" name="Text 92"/>
          <p:cNvSpPr/>
          <p:nvPr/>
        </p:nvSpPr>
        <p:spPr>
          <a:xfrm>
            <a:off x="457200" y="5394960"/>
            <a:ext cx="1417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11" name="Shape 93"/>
          <p:cNvSpPr/>
          <p:nvPr/>
        </p:nvSpPr>
        <p:spPr>
          <a:xfrm>
            <a:off x="1965960" y="5394960"/>
            <a:ext cx="237355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12" name="Shape 94"/>
          <p:cNvSpPr/>
          <p:nvPr/>
        </p:nvSpPr>
        <p:spPr>
          <a:xfrm>
            <a:off x="1965960" y="5394960"/>
            <a:ext cx="54864" cy="841248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13" name="Shape 95"/>
          <p:cNvSpPr/>
          <p:nvPr/>
        </p:nvSpPr>
        <p:spPr>
          <a:xfrm>
            <a:off x="2103120" y="5586984"/>
            <a:ext cx="457200" cy="457200"/>
          </a:xfrm>
          <a:prstGeom prst="ellipse">
            <a:avLst/>
          </a:prstGeom>
          <a:solidFill>
            <a:srgbClr val="F5F7FB"/>
          </a:solidFill>
          <a:ln w="6350">
            <a:solidFill>
              <a:srgbClr val="D6DEE8"/>
            </a:solidFill>
            <a:prstDash val="solid"/>
          </a:ln>
        </p:spPr>
      </p:sp>
      <p:pic>
        <p:nvPicPr>
          <p:cNvPr id="11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67128" y="5650992"/>
            <a:ext cx="329184" cy="329184"/>
          </a:xfrm>
          <a:prstGeom prst="rect">
            <a:avLst/>
          </a:prstGeom>
        </p:spPr>
      </p:pic>
      <p:sp>
        <p:nvSpPr>
          <p:cNvPr id="115" name="Text 96"/>
          <p:cNvSpPr/>
          <p:nvPr/>
        </p:nvSpPr>
        <p:spPr>
          <a:xfrm>
            <a:off x="2651760" y="5486400"/>
            <a:ext cx="15963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</a:t>
            </a:r>
            <a:endParaRPr lang="en-US" sz="1100" dirty="0"/>
          </a:p>
        </p:txBody>
      </p:sp>
      <p:sp>
        <p:nvSpPr>
          <p:cNvPr id="116" name="Text 97"/>
          <p:cNvSpPr/>
          <p:nvPr/>
        </p:nvSpPr>
        <p:spPr>
          <a:xfrm>
            <a:off x="2651760" y="580644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 + Targets</a:t>
            </a:r>
            <a:endParaRPr lang="en-US" sz="900" dirty="0"/>
          </a:p>
        </p:txBody>
      </p:sp>
      <p:sp>
        <p:nvSpPr>
          <p:cNvPr id="117" name="Shape 98"/>
          <p:cNvSpPr/>
          <p:nvPr/>
        </p:nvSpPr>
        <p:spPr>
          <a:xfrm>
            <a:off x="4430954" y="5394960"/>
            <a:ext cx="237355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18" name="Shape 99"/>
          <p:cNvSpPr/>
          <p:nvPr/>
        </p:nvSpPr>
        <p:spPr>
          <a:xfrm>
            <a:off x="4430954" y="5394960"/>
            <a:ext cx="54864" cy="841248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19" name="Shape 100"/>
          <p:cNvSpPr/>
          <p:nvPr/>
        </p:nvSpPr>
        <p:spPr>
          <a:xfrm>
            <a:off x="4568114" y="5586984"/>
            <a:ext cx="457200" cy="457200"/>
          </a:xfrm>
          <a:prstGeom prst="ellipse">
            <a:avLst/>
          </a:prstGeom>
          <a:solidFill>
            <a:srgbClr val="F5F7FB"/>
          </a:solidFill>
          <a:ln w="6350">
            <a:solidFill>
              <a:srgbClr val="D6DEE8"/>
            </a:solidFill>
            <a:prstDash val="solid"/>
          </a:ln>
        </p:spPr>
      </p:sp>
      <p:pic>
        <p:nvPicPr>
          <p:cNvPr id="12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32122" y="5650992"/>
            <a:ext cx="329184" cy="329184"/>
          </a:xfrm>
          <a:prstGeom prst="rect">
            <a:avLst/>
          </a:prstGeom>
        </p:spPr>
      </p:pic>
      <p:sp>
        <p:nvSpPr>
          <p:cNvPr id="121" name="Text 101"/>
          <p:cNvSpPr/>
          <p:nvPr/>
        </p:nvSpPr>
        <p:spPr>
          <a:xfrm>
            <a:off x="5116754" y="5486400"/>
            <a:ext cx="15963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Guard</a:t>
            </a:r>
            <a:endParaRPr lang="en-US" sz="1100" dirty="0"/>
          </a:p>
        </p:txBody>
      </p:sp>
      <p:sp>
        <p:nvSpPr>
          <p:cNvPr id="122" name="Text 102"/>
          <p:cNvSpPr/>
          <p:nvPr/>
        </p:nvSpPr>
        <p:spPr>
          <a:xfrm>
            <a:off x="5116754" y="580644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 + Responders</a:t>
            </a:r>
            <a:endParaRPr lang="en-US" sz="900" dirty="0"/>
          </a:p>
        </p:txBody>
      </p:sp>
      <p:sp>
        <p:nvSpPr>
          <p:cNvPr id="123" name="Shape 103"/>
          <p:cNvSpPr/>
          <p:nvPr/>
        </p:nvSpPr>
        <p:spPr>
          <a:xfrm>
            <a:off x="6895948" y="5394960"/>
            <a:ext cx="237355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24" name="Shape 104"/>
          <p:cNvSpPr/>
          <p:nvPr/>
        </p:nvSpPr>
        <p:spPr>
          <a:xfrm>
            <a:off x="6895948" y="5394960"/>
            <a:ext cx="54864" cy="841248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25" name="Shape 105"/>
          <p:cNvSpPr/>
          <p:nvPr/>
        </p:nvSpPr>
        <p:spPr>
          <a:xfrm>
            <a:off x="7033108" y="5586984"/>
            <a:ext cx="457200" cy="457200"/>
          </a:xfrm>
          <a:prstGeom prst="ellipse">
            <a:avLst/>
          </a:prstGeom>
          <a:solidFill>
            <a:srgbClr val="F5F7FB"/>
          </a:solidFill>
          <a:ln w="6350">
            <a:solidFill>
              <a:srgbClr val="D6DEE8"/>
            </a:solidFill>
            <a:prstDash val="solid"/>
          </a:ln>
        </p:spPr>
      </p:sp>
      <p:pic>
        <p:nvPicPr>
          <p:cNvPr id="12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97116" y="5650992"/>
            <a:ext cx="329184" cy="329184"/>
          </a:xfrm>
          <a:prstGeom prst="rect">
            <a:avLst/>
          </a:prstGeom>
        </p:spPr>
      </p:pic>
      <p:sp>
        <p:nvSpPr>
          <p:cNvPr id="127" name="Text 106"/>
          <p:cNvSpPr/>
          <p:nvPr/>
        </p:nvSpPr>
        <p:spPr>
          <a:xfrm>
            <a:off x="7581748" y="5486400"/>
            <a:ext cx="15963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100" dirty="0"/>
          </a:p>
        </p:txBody>
      </p:sp>
      <p:sp>
        <p:nvSpPr>
          <p:cNvPr id="128" name="Text 107"/>
          <p:cNvSpPr/>
          <p:nvPr/>
        </p:nvSpPr>
        <p:spPr>
          <a:xfrm>
            <a:off x="7581748" y="580644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Service logs</a:t>
            </a:r>
            <a:endParaRPr lang="en-US" sz="900" dirty="0"/>
          </a:p>
        </p:txBody>
      </p:sp>
      <p:sp>
        <p:nvSpPr>
          <p:cNvPr id="129" name="Shape 108"/>
          <p:cNvSpPr/>
          <p:nvPr/>
        </p:nvSpPr>
        <p:spPr>
          <a:xfrm>
            <a:off x="9360941" y="5394960"/>
            <a:ext cx="2373554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30" name="Shape 109"/>
          <p:cNvSpPr/>
          <p:nvPr/>
        </p:nvSpPr>
        <p:spPr>
          <a:xfrm>
            <a:off x="9360941" y="5394960"/>
            <a:ext cx="54864" cy="841248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31" name="Shape 110"/>
          <p:cNvSpPr/>
          <p:nvPr/>
        </p:nvSpPr>
        <p:spPr>
          <a:xfrm>
            <a:off x="9498101" y="5586984"/>
            <a:ext cx="457200" cy="457200"/>
          </a:xfrm>
          <a:prstGeom prst="ellipse">
            <a:avLst/>
          </a:prstGeom>
          <a:solidFill>
            <a:srgbClr val="F5F7FB"/>
          </a:solidFill>
          <a:ln w="6350">
            <a:solidFill>
              <a:srgbClr val="D6DEE8"/>
            </a:solidFill>
            <a:prstDash val="solid"/>
          </a:ln>
        </p:spPr>
      </p:sp>
      <p:pic>
        <p:nvPicPr>
          <p:cNvPr id="132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62109" y="5650992"/>
            <a:ext cx="329184" cy="329184"/>
          </a:xfrm>
          <a:prstGeom prst="rect">
            <a:avLst/>
          </a:prstGeom>
        </p:spPr>
      </p:pic>
      <p:sp>
        <p:nvSpPr>
          <p:cNvPr id="133" name="Text 111"/>
          <p:cNvSpPr/>
          <p:nvPr/>
        </p:nvSpPr>
        <p:spPr>
          <a:xfrm>
            <a:off x="10046741" y="5486400"/>
            <a:ext cx="15963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/ KMS</a:t>
            </a:r>
            <a:endParaRPr lang="en-US" sz="1100" dirty="0"/>
          </a:p>
        </p:txBody>
      </p:sp>
      <p:sp>
        <p:nvSpPr>
          <p:cNvPr id="134" name="Text 112"/>
          <p:cNvSpPr/>
          <p:nvPr/>
        </p:nvSpPr>
        <p:spPr>
          <a:xfrm>
            <a:off x="10046741" y="5806440"/>
            <a:ext cx="159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+ secrets</a:t>
            </a:r>
            <a:endParaRPr lang="en-US" sz="900" dirty="0"/>
          </a:p>
        </p:txBody>
      </p:sp>
      <p:sp>
        <p:nvSpPr>
          <p:cNvPr id="135" name="Shape 113"/>
          <p:cNvSpPr/>
          <p:nvPr/>
        </p:nvSpPr>
        <p:spPr>
          <a:xfrm>
            <a:off x="457200" y="6510528"/>
            <a:ext cx="109728" cy="10972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36" name="Text 114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Security  |  Country-wise Vulnerability Separation</a:t>
            </a:r>
            <a:endParaRPr lang="en-US" sz="1000" dirty="0"/>
          </a:p>
        </p:txBody>
      </p:sp>
      <p:sp>
        <p:nvSpPr>
          <p:cNvPr id="137" name="Text 115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TECHNICAL VIEW  ·  TERMINOLOGY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OCI components — quick reference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OCI building block is called, what it does, and where it fits in the country-separation design.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4630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1783080"/>
            <a:ext cx="23774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783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Component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457200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7830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869680" y="1783080"/>
            <a:ext cx="292608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Per-country behavior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11277295" cy="329184"/>
          </a:xfrm>
          <a:prstGeom prst="rect">
            <a:avLst/>
          </a:prstGeom>
          <a:solidFill>
            <a:srgbClr val="F5F7FB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1945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11680" y="21945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 Domain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89120" y="21945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for users, groups, apps, OAuth clients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0" y="21945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country (recommended)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523744"/>
            <a:ext cx="11277295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52374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11680" y="252374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 Group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89120" y="252374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of users with shared permissions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61120" y="25237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with country prefix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852928"/>
            <a:ext cx="11277295" cy="329184"/>
          </a:xfrm>
          <a:prstGeom prst="rect">
            <a:avLst/>
          </a:prstGeom>
          <a:solidFill>
            <a:srgbClr val="F5F7FB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8529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011680" y="285292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IAM Policy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389120" y="28529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defining who can do what, where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961120" y="28529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country compartment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182112"/>
            <a:ext cx="11277295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1821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011680" y="31821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Compartment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389120" y="318211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container holding OCI resources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961120" y="31821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per country + sub-compartments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511296"/>
            <a:ext cx="11277295" cy="329184"/>
          </a:xfrm>
          <a:prstGeom prst="rect">
            <a:avLst/>
          </a:prstGeom>
          <a:solidFill>
            <a:srgbClr val="F5F7FB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51129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011680" y="35112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 Namespace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389120" y="351129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keys applied to resources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961120" y="35112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Country, Compliance, Env tags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840480"/>
            <a:ext cx="11277295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38404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011680" y="38404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VCN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389120" y="38404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Cloud Network — your private L3 network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961120" y="38404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VCN per country (minimum)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4169664"/>
            <a:ext cx="11277295" cy="329184"/>
          </a:xfrm>
          <a:prstGeom prst="rect">
            <a:avLst/>
          </a:prstGeom>
          <a:solidFill>
            <a:srgbClr val="F5F7FB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41696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011680" y="416966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Subnet + NSG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389120" y="416966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segment + security rules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961120" y="416966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CIDR blocks per country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4498848"/>
            <a:ext cx="11277295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" y="44988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4A9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011680" y="44988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DRG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389120" y="449884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Routing Gateway for hybrid/peering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961120" y="44988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peered across countries by default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4828032"/>
            <a:ext cx="11277295" cy="329184"/>
          </a:xfrm>
          <a:prstGeom prst="rect">
            <a:avLst/>
          </a:prstGeom>
          <a:solidFill>
            <a:srgbClr val="F5F7FB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" y="482803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2011680" y="48280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VSS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389120" y="482803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Scanning Service (hosts + containers)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961120" y="48280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Country-scoped recipes &amp; targets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7200" y="5157216"/>
            <a:ext cx="11277295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4360" y="515721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2011680" y="515721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 Guard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4389120" y="515721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posture + threat detection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961120" y="51572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Country-scoped targets &amp; responders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" y="5486400"/>
            <a:ext cx="11277295" cy="329184"/>
          </a:xfrm>
          <a:prstGeom prst="rect">
            <a:avLst/>
          </a:prstGeom>
          <a:solidFill>
            <a:srgbClr val="F5F7FB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4360" y="5486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2011680" y="54864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Vault / KMS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4389120" y="54864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Keys, secrets, sensitive config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961120" y="54864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In-country vaults only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57200" y="5815584"/>
            <a:ext cx="11277295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94360" y="581558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2011680" y="58155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 + Analytics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4389120" y="581558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Audit, service, custom logs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961120" y="581558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Country-specific buckets &amp; dashboards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57200" y="6510528"/>
            <a:ext cx="109728" cy="10972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Security  |  Country-wise Vulnerability Separation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3 &amp; 4  ·  ACCESS AND SCANNING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access and scans stay country-locked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77840" cy="4754880"/>
          </a:xfrm>
          <a:prstGeom prst="rect">
            <a:avLst/>
          </a:prstGeom>
          <a:solidFill>
            <a:srgbClr val="F5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5577840" cy="9144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745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28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&amp; Access (IAM)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2514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country team can only touch their own compartment.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3017520"/>
            <a:ext cx="5029200" cy="2286000"/>
          </a:xfrm>
          <a:prstGeom prst="rect">
            <a:avLst/>
          </a:prstGeom>
          <a:solidFill>
            <a:srgbClr val="061226"/>
          </a:solidFill>
          <a:ln w="12700">
            <a:solidFill>
              <a:srgbClr val="0612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154680"/>
            <a:ext cx="4754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UAE security team — only UAE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 group UAE-SecOps to manage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vss-family in compartment UAE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KSA security team — only KSA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 group KSA-SecOps to manage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vss-family in compartment KSA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4068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54223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team cannot see KSA findings — ever.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71500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5696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show who accessed what, per country.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989320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05840" y="59710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separate Identity Domains per country.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217920" y="1554480"/>
            <a:ext cx="5532120" cy="4754880"/>
          </a:xfrm>
          <a:prstGeom prst="rect">
            <a:avLst/>
          </a:prstGeom>
          <a:solidFill>
            <a:srgbClr val="F5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217920" y="1554480"/>
            <a:ext cx="5532120" cy="9144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874520"/>
            <a:ext cx="502920" cy="5029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132320" y="18288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Vulnerability Scanning (VSS)</a:t>
            </a:r>
            <a:endParaRPr lang="en-US" sz="2000" dirty="0"/>
          </a:p>
        </p:txBody>
      </p:sp>
      <p:sp>
        <p:nvSpPr>
          <p:cNvPr id="21" name="Text 14"/>
          <p:cNvSpPr/>
          <p:nvPr/>
        </p:nvSpPr>
        <p:spPr>
          <a:xfrm>
            <a:off x="6492240" y="25146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country runs its own scans on its own stuff.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6492240" y="3063240"/>
            <a:ext cx="49834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6629400" y="3246120"/>
            <a:ext cx="457200" cy="457200"/>
          </a:xfrm>
          <a:prstGeom prst="ellipse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3337560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223760" y="317296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Recipe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7223760" y="350215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Country-specific rules and thresholds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6492240" y="4023360"/>
            <a:ext cx="49834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6629400" y="4206240"/>
            <a:ext cx="457200" cy="457200"/>
          </a:xfrm>
          <a:prstGeom prst="ellipse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4297680"/>
            <a:ext cx="274320" cy="2743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223760" y="413308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Target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7223760" y="44622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that country's compartment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6492240" y="4983480"/>
            <a:ext cx="49834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6629400" y="5166360"/>
            <a:ext cx="457200" cy="457200"/>
          </a:xfrm>
          <a:prstGeom prst="ellipse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840" y="5257800"/>
            <a:ext cx="274320" cy="2743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223760" y="509320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1400" dirty="0"/>
          </a:p>
        </p:txBody>
      </p:sp>
      <p:sp>
        <p:nvSpPr>
          <p:cNvPr id="36" name="Text 26"/>
          <p:cNvSpPr/>
          <p:nvPr/>
        </p:nvSpPr>
        <p:spPr>
          <a:xfrm>
            <a:off x="7223760" y="54223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per-country. Naturally separated.</a:t>
            </a: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457200" y="6510528"/>
            <a:ext cx="109728" cy="10972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Security  |  Country-wise Vulnerability Separation</a:t>
            </a:r>
            <a:endParaRPr lang="en-US" sz="1000" dirty="0"/>
          </a:p>
        </p:txBody>
      </p:sp>
      <p:sp>
        <p:nvSpPr>
          <p:cNvPr id="39" name="Text 29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ALIGNMENT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country maps to its own rulebook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Country-scoped scanning lets you tune detectors and reports to the regulations that apply in that country — no mixing.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6568" y="1828800"/>
            <a:ext cx="36576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6568" y="1828800"/>
            <a:ext cx="109728" cy="22402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888" y="21031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3808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 Arab Emirates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00888" y="2651760"/>
            <a:ext cx="457200" cy="2743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168" y="2926080"/>
            <a:ext cx="1021080" cy="91440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48" y="30632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0888" y="3383280"/>
            <a:ext cx="929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IA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1749400" y="2926080"/>
            <a:ext cx="1021080" cy="91440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780" y="306324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95120" y="3383280"/>
            <a:ext cx="929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NESA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2843632" y="2926080"/>
            <a:ext cx="1021080" cy="91440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7012" y="306324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889352" y="3383280"/>
            <a:ext cx="929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ADHICS (Health)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4267048" y="1828800"/>
            <a:ext cx="36576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267048" y="1828800"/>
            <a:ext cx="109728" cy="22402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1368" y="210312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044288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Saudi Arabia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4541368" y="2651760"/>
            <a:ext cx="457200" cy="2743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495648" y="2926080"/>
            <a:ext cx="1021080" cy="91440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9028" y="3063240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541368" y="3383280"/>
            <a:ext cx="929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 ECC</a:t>
            </a:r>
            <a:endParaRPr lang="en-US" sz="950" dirty="0"/>
          </a:p>
        </p:txBody>
      </p:sp>
      <p:sp>
        <p:nvSpPr>
          <p:cNvPr id="27" name="Shape 19"/>
          <p:cNvSpPr/>
          <p:nvPr/>
        </p:nvSpPr>
        <p:spPr>
          <a:xfrm>
            <a:off x="5589880" y="2926080"/>
            <a:ext cx="1021080" cy="91440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3260" y="3063240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635600" y="3383280"/>
            <a:ext cx="929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 CSF</a:t>
            </a:r>
            <a:endParaRPr lang="en-US" sz="950" dirty="0"/>
          </a:p>
        </p:txBody>
      </p:sp>
      <p:sp>
        <p:nvSpPr>
          <p:cNvPr id="30" name="Shape 21"/>
          <p:cNvSpPr/>
          <p:nvPr/>
        </p:nvSpPr>
        <p:spPr>
          <a:xfrm>
            <a:off x="6684112" y="2926080"/>
            <a:ext cx="1021080" cy="91440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7492" y="3063240"/>
            <a:ext cx="274320" cy="27432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729832" y="3383280"/>
            <a:ext cx="929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rules</a:t>
            </a:r>
            <a:endParaRPr lang="en-US" sz="950" dirty="0"/>
          </a:p>
        </p:txBody>
      </p:sp>
      <p:sp>
        <p:nvSpPr>
          <p:cNvPr id="33" name="Shape 23"/>
          <p:cNvSpPr/>
          <p:nvPr/>
        </p:nvSpPr>
        <p:spPr>
          <a:xfrm>
            <a:off x="8107528" y="1828800"/>
            <a:ext cx="36576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8107528" y="1828800"/>
            <a:ext cx="109728" cy="22402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1848" y="2103120"/>
            <a:ext cx="411480" cy="41148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8884768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</a:t>
            </a:r>
            <a:endParaRPr lang="en-US" sz="1500" dirty="0"/>
          </a:p>
        </p:txBody>
      </p:sp>
      <p:sp>
        <p:nvSpPr>
          <p:cNvPr id="37" name="Shape 26"/>
          <p:cNvSpPr/>
          <p:nvPr/>
        </p:nvSpPr>
        <p:spPr>
          <a:xfrm>
            <a:off x="8381848" y="2651760"/>
            <a:ext cx="457200" cy="2743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8" name="Shape 27"/>
          <p:cNvSpPr/>
          <p:nvPr/>
        </p:nvSpPr>
        <p:spPr>
          <a:xfrm>
            <a:off x="8336128" y="2926080"/>
            <a:ext cx="1021080" cy="91440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09508" y="3063240"/>
            <a:ext cx="274320" cy="27432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8381848" y="3383280"/>
            <a:ext cx="929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</a:t>
            </a:r>
            <a:endParaRPr lang="en-US" sz="950" dirty="0"/>
          </a:p>
        </p:txBody>
      </p:sp>
      <p:sp>
        <p:nvSpPr>
          <p:cNvPr id="41" name="Shape 29"/>
          <p:cNvSpPr/>
          <p:nvPr/>
        </p:nvSpPr>
        <p:spPr>
          <a:xfrm>
            <a:off x="9430360" y="2926080"/>
            <a:ext cx="1021080" cy="91440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03740" y="3063240"/>
            <a:ext cx="274320" cy="274320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9476080" y="3383280"/>
            <a:ext cx="929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guidelines</a:t>
            </a:r>
            <a:endParaRPr lang="en-US" sz="950" dirty="0"/>
          </a:p>
        </p:txBody>
      </p:sp>
      <p:sp>
        <p:nvSpPr>
          <p:cNvPr id="44" name="Shape 31"/>
          <p:cNvSpPr/>
          <p:nvPr/>
        </p:nvSpPr>
        <p:spPr>
          <a:xfrm>
            <a:off x="10524592" y="2926080"/>
            <a:ext cx="1021080" cy="91440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97972" y="3063240"/>
            <a:ext cx="274320" cy="274320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10570312" y="3383280"/>
            <a:ext cx="929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CERT-In</a:t>
            </a:r>
            <a:endParaRPr lang="en-US" sz="950" dirty="0"/>
          </a:p>
        </p:txBody>
      </p:sp>
      <p:sp>
        <p:nvSpPr>
          <p:cNvPr id="47" name="Shape 33"/>
          <p:cNvSpPr/>
          <p:nvPr/>
        </p:nvSpPr>
        <p:spPr>
          <a:xfrm>
            <a:off x="426568" y="4251960"/>
            <a:ext cx="36576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48" name="Shape 34"/>
          <p:cNvSpPr/>
          <p:nvPr/>
        </p:nvSpPr>
        <p:spPr>
          <a:xfrm>
            <a:off x="426568" y="4251960"/>
            <a:ext cx="109728" cy="22402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pic>
        <p:nvPicPr>
          <p:cNvPr id="4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0888" y="4526280"/>
            <a:ext cx="411480" cy="411480"/>
          </a:xfrm>
          <a:prstGeom prst="rect">
            <a:avLst/>
          </a:prstGeom>
        </p:spPr>
      </p:pic>
      <p:sp>
        <p:nvSpPr>
          <p:cNvPr id="50" name="Text 35"/>
          <p:cNvSpPr/>
          <p:nvPr/>
        </p:nvSpPr>
        <p:spPr>
          <a:xfrm>
            <a:off x="1203808" y="4526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Germany</a:t>
            </a:r>
            <a:endParaRPr lang="en-US" sz="1500" dirty="0"/>
          </a:p>
        </p:txBody>
      </p:sp>
      <p:sp>
        <p:nvSpPr>
          <p:cNvPr id="51" name="Shape 36"/>
          <p:cNvSpPr/>
          <p:nvPr/>
        </p:nvSpPr>
        <p:spPr>
          <a:xfrm>
            <a:off x="700888" y="5074920"/>
            <a:ext cx="457200" cy="2743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2" name="Shape 37"/>
          <p:cNvSpPr/>
          <p:nvPr/>
        </p:nvSpPr>
        <p:spPr>
          <a:xfrm>
            <a:off x="655168" y="5349240"/>
            <a:ext cx="1021080" cy="91440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5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8548" y="5486400"/>
            <a:ext cx="274320" cy="274320"/>
          </a:xfrm>
          <a:prstGeom prst="rect">
            <a:avLst/>
          </a:prstGeom>
        </p:spPr>
      </p:pic>
      <p:sp>
        <p:nvSpPr>
          <p:cNvPr id="54" name="Text 38"/>
          <p:cNvSpPr/>
          <p:nvPr/>
        </p:nvSpPr>
        <p:spPr>
          <a:xfrm>
            <a:off x="700888" y="5806440"/>
            <a:ext cx="929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BDSG</a:t>
            </a:r>
            <a:endParaRPr lang="en-US" sz="950" dirty="0"/>
          </a:p>
        </p:txBody>
      </p:sp>
      <p:sp>
        <p:nvSpPr>
          <p:cNvPr id="55" name="Shape 39"/>
          <p:cNvSpPr/>
          <p:nvPr/>
        </p:nvSpPr>
        <p:spPr>
          <a:xfrm>
            <a:off x="1749400" y="5349240"/>
            <a:ext cx="1021080" cy="91440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5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22780" y="5486400"/>
            <a:ext cx="274320" cy="274320"/>
          </a:xfrm>
          <a:prstGeom prst="rect">
            <a:avLst/>
          </a:prstGeom>
        </p:spPr>
      </p:pic>
      <p:sp>
        <p:nvSpPr>
          <p:cNvPr id="57" name="Text 40"/>
          <p:cNvSpPr/>
          <p:nvPr/>
        </p:nvSpPr>
        <p:spPr>
          <a:xfrm>
            <a:off x="1795120" y="5806440"/>
            <a:ext cx="929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(BSI)</a:t>
            </a:r>
            <a:endParaRPr lang="en-US" sz="950" dirty="0"/>
          </a:p>
        </p:txBody>
      </p:sp>
      <p:sp>
        <p:nvSpPr>
          <p:cNvPr id="58" name="Shape 41"/>
          <p:cNvSpPr/>
          <p:nvPr/>
        </p:nvSpPr>
        <p:spPr>
          <a:xfrm>
            <a:off x="2843632" y="5349240"/>
            <a:ext cx="1021080" cy="91440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17012" y="5486400"/>
            <a:ext cx="274320" cy="274320"/>
          </a:xfrm>
          <a:prstGeom prst="rect">
            <a:avLst/>
          </a:prstGeom>
        </p:spPr>
      </p:pic>
      <p:sp>
        <p:nvSpPr>
          <p:cNvPr id="60" name="Text 42"/>
          <p:cNvSpPr/>
          <p:nvPr/>
        </p:nvSpPr>
        <p:spPr>
          <a:xfrm>
            <a:off x="2889352" y="5806440"/>
            <a:ext cx="929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950" dirty="0"/>
          </a:p>
        </p:txBody>
      </p:sp>
      <p:sp>
        <p:nvSpPr>
          <p:cNvPr id="61" name="Shape 43"/>
          <p:cNvSpPr/>
          <p:nvPr/>
        </p:nvSpPr>
        <p:spPr>
          <a:xfrm>
            <a:off x="4267048" y="4251960"/>
            <a:ext cx="36576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62" name="Shape 44"/>
          <p:cNvSpPr/>
          <p:nvPr/>
        </p:nvSpPr>
        <p:spPr>
          <a:xfrm>
            <a:off x="4267048" y="4251960"/>
            <a:ext cx="109728" cy="22402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pic>
        <p:nvPicPr>
          <p:cNvPr id="6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41368" y="4526280"/>
            <a:ext cx="411480" cy="411480"/>
          </a:xfrm>
          <a:prstGeom prst="rect">
            <a:avLst/>
          </a:prstGeom>
        </p:spPr>
      </p:pic>
      <p:sp>
        <p:nvSpPr>
          <p:cNvPr id="64" name="Text 45"/>
          <p:cNvSpPr/>
          <p:nvPr/>
        </p:nvSpPr>
        <p:spPr>
          <a:xfrm>
            <a:off x="5044288" y="4526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France</a:t>
            </a:r>
            <a:endParaRPr lang="en-US" sz="1500" dirty="0"/>
          </a:p>
        </p:txBody>
      </p:sp>
      <p:sp>
        <p:nvSpPr>
          <p:cNvPr id="65" name="Shape 46"/>
          <p:cNvSpPr/>
          <p:nvPr/>
        </p:nvSpPr>
        <p:spPr>
          <a:xfrm>
            <a:off x="4541368" y="5074920"/>
            <a:ext cx="457200" cy="2743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66" name="Shape 47"/>
          <p:cNvSpPr/>
          <p:nvPr/>
        </p:nvSpPr>
        <p:spPr>
          <a:xfrm>
            <a:off x="4495648" y="5349240"/>
            <a:ext cx="1021080" cy="91440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6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69028" y="5486400"/>
            <a:ext cx="274320" cy="274320"/>
          </a:xfrm>
          <a:prstGeom prst="rect">
            <a:avLst/>
          </a:prstGeom>
        </p:spPr>
      </p:pic>
      <p:sp>
        <p:nvSpPr>
          <p:cNvPr id="68" name="Text 48"/>
          <p:cNvSpPr/>
          <p:nvPr/>
        </p:nvSpPr>
        <p:spPr>
          <a:xfrm>
            <a:off x="4541368" y="5806440"/>
            <a:ext cx="929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CNIL / LIL</a:t>
            </a:r>
            <a:endParaRPr lang="en-US" sz="950" dirty="0"/>
          </a:p>
        </p:txBody>
      </p:sp>
      <p:sp>
        <p:nvSpPr>
          <p:cNvPr id="69" name="Shape 49"/>
          <p:cNvSpPr/>
          <p:nvPr/>
        </p:nvSpPr>
        <p:spPr>
          <a:xfrm>
            <a:off x="5589880" y="5349240"/>
            <a:ext cx="1021080" cy="91440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7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63260" y="5486400"/>
            <a:ext cx="274320" cy="274320"/>
          </a:xfrm>
          <a:prstGeom prst="rect">
            <a:avLst/>
          </a:prstGeom>
        </p:spPr>
      </p:pic>
      <p:sp>
        <p:nvSpPr>
          <p:cNvPr id="71" name="Text 50"/>
          <p:cNvSpPr/>
          <p:nvPr/>
        </p:nvSpPr>
        <p:spPr>
          <a:xfrm>
            <a:off x="5635600" y="5806440"/>
            <a:ext cx="929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SecNumCloud</a:t>
            </a:r>
            <a:endParaRPr lang="en-US" sz="950" dirty="0"/>
          </a:p>
        </p:txBody>
      </p:sp>
      <p:sp>
        <p:nvSpPr>
          <p:cNvPr id="72" name="Shape 51"/>
          <p:cNvSpPr/>
          <p:nvPr/>
        </p:nvSpPr>
        <p:spPr>
          <a:xfrm>
            <a:off x="6684112" y="5349240"/>
            <a:ext cx="1021080" cy="91440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7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57492" y="5486400"/>
            <a:ext cx="274320" cy="274320"/>
          </a:xfrm>
          <a:prstGeom prst="rect">
            <a:avLst/>
          </a:prstGeom>
        </p:spPr>
      </p:pic>
      <p:sp>
        <p:nvSpPr>
          <p:cNvPr id="74" name="Text 52"/>
          <p:cNvSpPr/>
          <p:nvPr/>
        </p:nvSpPr>
        <p:spPr>
          <a:xfrm>
            <a:off x="6729832" y="5806440"/>
            <a:ext cx="929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950" dirty="0"/>
          </a:p>
        </p:txBody>
      </p:sp>
      <p:sp>
        <p:nvSpPr>
          <p:cNvPr id="75" name="Shape 53"/>
          <p:cNvSpPr/>
          <p:nvPr/>
        </p:nvSpPr>
        <p:spPr>
          <a:xfrm>
            <a:off x="8107528" y="4251960"/>
            <a:ext cx="36576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76" name="Shape 54"/>
          <p:cNvSpPr/>
          <p:nvPr/>
        </p:nvSpPr>
        <p:spPr>
          <a:xfrm>
            <a:off x="8107528" y="4251960"/>
            <a:ext cx="109728" cy="22402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pic>
        <p:nvPicPr>
          <p:cNvPr id="77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81848" y="4526280"/>
            <a:ext cx="411480" cy="411480"/>
          </a:xfrm>
          <a:prstGeom prst="rect">
            <a:avLst/>
          </a:prstGeom>
        </p:spPr>
      </p:pic>
      <p:sp>
        <p:nvSpPr>
          <p:cNvPr id="78" name="Text 55"/>
          <p:cNvSpPr/>
          <p:nvPr/>
        </p:nvSpPr>
        <p:spPr>
          <a:xfrm>
            <a:off x="8884768" y="4526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 Kingdom</a:t>
            </a:r>
            <a:endParaRPr lang="en-US" sz="1500" dirty="0"/>
          </a:p>
        </p:txBody>
      </p:sp>
      <p:sp>
        <p:nvSpPr>
          <p:cNvPr id="79" name="Shape 56"/>
          <p:cNvSpPr/>
          <p:nvPr/>
        </p:nvSpPr>
        <p:spPr>
          <a:xfrm>
            <a:off x="8381848" y="5074920"/>
            <a:ext cx="457200" cy="2743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80" name="Shape 57"/>
          <p:cNvSpPr/>
          <p:nvPr/>
        </p:nvSpPr>
        <p:spPr>
          <a:xfrm>
            <a:off x="8336128" y="5349240"/>
            <a:ext cx="1021080" cy="91440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8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709508" y="5486400"/>
            <a:ext cx="274320" cy="274320"/>
          </a:xfrm>
          <a:prstGeom prst="rect">
            <a:avLst/>
          </a:prstGeom>
        </p:spPr>
      </p:pic>
      <p:sp>
        <p:nvSpPr>
          <p:cNvPr id="82" name="Text 58"/>
          <p:cNvSpPr/>
          <p:nvPr/>
        </p:nvSpPr>
        <p:spPr>
          <a:xfrm>
            <a:off x="8381848" y="5806440"/>
            <a:ext cx="929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GDPR</a:t>
            </a:r>
            <a:endParaRPr lang="en-US" sz="950" dirty="0"/>
          </a:p>
        </p:txBody>
      </p:sp>
      <p:sp>
        <p:nvSpPr>
          <p:cNvPr id="83" name="Shape 59"/>
          <p:cNvSpPr/>
          <p:nvPr/>
        </p:nvSpPr>
        <p:spPr>
          <a:xfrm>
            <a:off x="9430360" y="5349240"/>
            <a:ext cx="1021080" cy="91440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8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03740" y="5486400"/>
            <a:ext cx="274320" cy="274320"/>
          </a:xfrm>
          <a:prstGeom prst="rect">
            <a:avLst/>
          </a:prstGeom>
        </p:spPr>
      </p:pic>
      <p:sp>
        <p:nvSpPr>
          <p:cNvPr id="85" name="Text 60"/>
          <p:cNvSpPr/>
          <p:nvPr/>
        </p:nvSpPr>
        <p:spPr>
          <a:xfrm>
            <a:off x="9476080" y="5806440"/>
            <a:ext cx="929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NCSC CAF</a:t>
            </a:r>
            <a:endParaRPr lang="en-US" sz="950" dirty="0"/>
          </a:p>
        </p:txBody>
      </p:sp>
      <p:sp>
        <p:nvSpPr>
          <p:cNvPr id="86" name="Shape 61"/>
          <p:cNvSpPr/>
          <p:nvPr/>
        </p:nvSpPr>
        <p:spPr>
          <a:xfrm>
            <a:off x="10524592" y="5349240"/>
            <a:ext cx="1021080" cy="914400"/>
          </a:xfrm>
          <a:prstGeom prst="rect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87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897972" y="5486400"/>
            <a:ext cx="274320" cy="274320"/>
          </a:xfrm>
          <a:prstGeom prst="rect">
            <a:avLst/>
          </a:prstGeom>
        </p:spPr>
      </p:pic>
      <p:sp>
        <p:nvSpPr>
          <p:cNvPr id="88" name="Text 62"/>
          <p:cNvSpPr/>
          <p:nvPr/>
        </p:nvSpPr>
        <p:spPr>
          <a:xfrm>
            <a:off x="10570312" y="5806440"/>
            <a:ext cx="929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ICO</a:t>
            </a:r>
            <a:endParaRPr lang="en-US" sz="950" dirty="0"/>
          </a:p>
        </p:txBody>
      </p:sp>
      <p:sp>
        <p:nvSpPr>
          <p:cNvPr id="89" name="Shape 63"/>
          <p:cNvSpPr/>
          <p:nvPr/>
        </p:nvSpPr>
        <p:spPr>
          <a:xfrm>
            <a:off x="457200" y="6510528"/>
            <a:ext cx="109728" cy="10972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90" name="Text 64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Security  |  Country-wise Vulnerability Separation</a:t>
            </a:r>
            <a:endParaRPr lang="en-US" sz="1000" dirty="0"/>
          </a:p>
        </p:txBody>
      </p:sp>
      <p:sp>
        <p:nvSpPr>
          <p:cNvPr id="91" name="Text 65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REPORTS STAY SEPARATE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 follow a country-locked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3748" y="1920240"/>
            <a:ext cx="1965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95248" y="2148840"/>
            <a:ext cx="822960" cy="8229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C7463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9840" y="231343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5188" y="3063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5188" y="3383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VMs, DBs, apps tagged by country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07996" y="2971800"/>
            <a:ext cx="192024" cy="0"/>
          </a:xfrm>
          <a:prstGeom prst="line">
            <a:avLst/>
          </a:prstGeom>
          <a:noFill/>
          <a:ln w="19050">
            <a:solidFill>
              <a:srgbClr val="C7463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45156" y="2926080"/>
            <a:ext cx="91440" cy="9144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18308" y="1920240"/>
            <a:ext cx="1965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89808" y="2148840"/>
            <a:ext cx="822960" cy="8229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C7463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4400" y="2313432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09748" y="3063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Scans (VSS)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009748" y="3383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Country-scoped targets &amp; recipes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902556" y="2971800"/>
            <a:ext cx="192024" cy="0"/>
          </a:xfrm>
          <a:prstGeom prst="line">
            <a:avLst/>
          </a:prstGeom>
          <a:noFill/>
          <a:ln w="19050">
            <a:solidFill>
              <a:srgbClr val="C7463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039716" y="2926080"/>
            <a:ext cx="91440" cy="9144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112868" y="1920240"/>
            <a:ext cx="1965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684368" y="2148840"/>
            <a:ext cx="822960" cy="8229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C7463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960" y="2313432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04308" y="3063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Guard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204308" y="3383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 per country compartment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097116" y="2971800"/>
            <a:ext cx="192024" cy="0"/>
          </a:xfrm>
          <a:prstGeom prst="line">
            <a:avLst/>
          </a:prstGeom>
          <a:noFill/>
          <a:ln w="19050">
            <a:solidFill>
              <a:srgbClr val="C7463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234276" y="2926080"/>
            <a:ext cx="91440" cy="9144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307428" y="1920240"/>
            <a:ext cx="1965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878928" y="2148840"/>
            <a:ext cx="822960" cy="8229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C74634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3520" y="2313432"/>
            <a:ext cx="502920" cy="5029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98868" y="3063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Logs &amp; Buckets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398868" y="3383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Country-specific storage + retention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9291676" y="2971800"/>
            <a:ext cx="192024" cy="0"/>
          </a:xfrm>
          <a:prstGeom prst="line">
            <a:avLst/>
          </a:prstGeom>
          <a:noFill/>
          <a:ln w="19050">
            <a:solidFill>
              <a:srgbClr val="C74634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9428836" y="2926080"/>
            <a:ext cx="91440" cy="9144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9501988" y="1920240"/>
            <a:ext cx="1965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073488" y="2148840"/>
            <a:ext cx="822960" cy="822960"/>
          </a:xfrm>
          <a:prstGeom prst="ellipse">
            <a:avLst/>
          </a:prstGeom>
          <a:solidFill>
            <a:srgbClr val="F5F7FB"/>
          </a:solidFill>
          <a:ln w="19050">
            <a:solidFill>
              <a:srgbClr val="C74634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8080" y="2313432"/>
            <a:ext cx="502920" cy="5029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593428" y="3063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 / Dashboard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9593428" y="33832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SOC sees UAE, KSA SOC sees KSA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457200" y="4846320"/>
            <a:ext cx="11277295" cy="1371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120640"/>
            <a:ext cx="548640" cy="54864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463040" y="5029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1463040" y="5349240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is born inside a country boundary and never leaves it. Country SOC teams, auditors, and regulators each see exactly — and only — what belongs to them.</a:t>
            </a:r>
            <a:endParaRPr lang="en-US" sz="1400" dirty="0"/>
          </a:p>
        </p:txBody>
      </p:sp>
      <p:sp>
        <p:nvSpPr>
          <p:cNvPr id="41" name="Shape 33"/>
          <p:cNvSpPr/>
          <p:nvPr/>
        </p:nvSpPr>
        <p:spPr>
          <a:xfrm>
            <a:off x="457200" y="6510528"/>
            <a:ext cx="109728" cy="10972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Security  |  Country-wise Vulnerability Separation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·  AFTER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 — in one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77840" cy="4754880"/>
          </a:xfrm>
          <a:prstGeom prst="rect">
            <a:avLst/>
          </a:prstGeom>
          <a:solidFill>
            <a:srgbClr val="F5F7FB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5577840" cy="640080"/>
          </a:xfrm>
          <a:prstGeom prst="rect">
            <a:avLst/>
          </a:prstGeom>
          <a:solidFill>
            <a:srgbClr val="8B2E28"/>
          </a:solidFill>
          <a:ln w="12700">
            <a:solidFill>
              <a:srgbClr val="8B2E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country separation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4688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423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team can accidentally see KSA findings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546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108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audit report mixes all countries together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4048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3794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may leave the country of origin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52628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4480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regulators can't get a clean country-only report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212080"/>
            <a:ext cx="320040" cy="3200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34440" y="5166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across teams is slow and unclear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6217920" y="1554480"/>
            <a:ext cx="5532120" cy="47548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6217920" y="1554480"/>
            <a:ext cx="5532120" cy="64008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6492240" y="15544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country separation</a:t>
            </a:r>
            <a:endParaRPr lang="en-US" sz="18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2468880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95160" y="242316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country team sees only its own findings</a:t>
            </a:r>
            <a:endParaRPr lang="en-US" sz="13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3154680"/>
            <a:ext cx="320040" cy="32004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995160" y="310896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country-specific audit reports, ready on demand</a:t>
            </a:r>
            <a:endParaRPr lang="en-US" sz="13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3840480"/>
            <a:ext cx="320040" cy="32004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995160" y="379476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in-country by design</a:t>
            </a:r>
            <a:endParaRPr lang="en-US" sz="13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4526280"/>
            <a:ext cx="320040" cy="32004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995160" y="448056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get exactly what they ask for</a:t>
            </a:r>
            <a:endParaRPr lang="en-US" sz="13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5212080"/>
            <a:ext cx="320040" cy="32004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995160" y="516636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clearer incident response per country</a:t>
            </a:r>
            <a:endParaRPr lang="en-US" sz="1300" dirty="0"/>
          </a:p>
        </p:txBody>
      </p:sp>
      <p:sp>
        <p:nvSpPr>
          <p:cNvPr id="30" name="Shape 18"/>
          <p:cNvSpPr/>
          <p:nvPr/>
        </p:nvSpPr>
        <p:spPr>
          <a:xfrm>
            <a:off x="457200" y="6510528"/>
            <a:ext cx="109728" cy="10972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1" name="Text 19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Security  |  Country-wise Vulnerability Separation</a:t>
            </a:r>
            <a:endParaRPr lang="en-US" sz="1000" dirty="0"/>
          </a:p>
        </p:txBody>
      </p:sp>
      <p:sp>
        <p:nvSpPr>
          <p:cNvPr id="32" name="Text 20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RECOMMENDATION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blueprint that just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45920" y="2194560"/>
            <a:ext cx="3657600" cy="36576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2331720"/>
            <a:ext cx="3383280" cy="338328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C7463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32461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4343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Country-Locked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28800" y="4709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A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Blueprint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0" y="1554480"/>
            <a:ext cx="5120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1554480"/>
            <a:ext cx="91440" cy="100584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0" y="1801368"/>
            <a:ext cx="502920" cy="502920"/>
          </a:xfrm>
          <a:prstGeom prst="ellipse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874520"/>
            <a:ext cx="32004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1737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Separate tenancy per country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498080" y="21214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one OCI Organization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583680" y="2743200"/>
            <a:ext cx="5120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83680" y="2743200"/>
            <a:ext cx="91440" cy="100584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0" y="2990088"/>
            <a:ext cx="502920" cy="502920"/>
          </a:xfrm>
          <a:prstGeom prst="ellipse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063240"/>
            <a:ext cx="32004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49808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In-country OCI region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7498080" y="33101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 by design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583680" y="3931920"/>
            <a:ext cx="5120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83680" y="3931920"/>
            <a:ext cx="91440" cy="100584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858000" y="4178808"/>
            <a:ext cx="502920" cy="502920"/>
          </a:xfrm>
          <a:prstGeom prst="ellipse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4251960"/>
            <a:ext cx="32004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98080" y="4114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Country-scoped IAM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498080" y="44988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Groups, policies, identity domains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6583680" y="5120640"/>
            <a:ext cx="5120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583680" y="5120640"/>
            <a:ext cx="91440" cy="100584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858000" y="5367528"/>
            <a:ext cx="502920" cy="502920"/>
          </a:xfrm>
          <a:prstGeom prst="ellipse">
            <a:avLst/>
          </a:prstGeom>
          <a:solidFill>
            <a:srgbClr val="F5F7FB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5440680"/>
            <a:ext cx="32004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498080" y="5303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Scoped VSS + Cloud Guard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7498080" y="56875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Per-country recipes, targets, detectors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457200" y="5989320"/>
            <a:ext cx="6035040" cy="457200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640080" y="59893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tags (Country, Compliance-Framework) across all resources for extra clarity.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457200" y="6510528"/>
            <a:ext cx="109728" cy="10972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Security  |  Country-wise Vulnerability Separation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0"/>
            <a:ext cx="2743200" cy="6858000"/>
          </a:xfrm>
          <a:prstGeom prst="rect">
            <a:avLst/>
          </a:prstGeom>
          <a:solidFill>
            <a:srgbClr val="061226"/>
          </a:solidFill>
          <a:ln w="12700">
            <a:solidFill>
              <a:srgbClr val="0612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48495" y="2286000"/>
            <a:ext cx="109728" cy="228600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8575" y="2468880"/>
            <a:ext cx="164592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12801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 the design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into reality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731520" y="3200400"/>
            <a:ext cx="4114800" cy="1234440"/>
          </a:xfrm>
          <a:prstGeom prst="rect">
            <a:avLst/>
          </a:prstGeom>
          <a:solidFill>
            <a:srgbClr val="061226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337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746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828800" y="3337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 countries &amp; regulations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828800" y="37947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countries and the laws that apply in each.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120640" y="3200400"/>
            <a:ext cx="4114800" cy="1234440"/>
          </a:xfrm>
          <a:prstGeom prst="rect">
            <a:avLst/>
          </a:prstGeom>
          <a:solidFill>
            <a:srgbClr val="061226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0" y="3337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746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217920" y="3337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structure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17920" y="37947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tenancy-per-country (recommended) or compartments.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4709160"/>
            <a:ext cx="4114800" cy="1234440"/>
          </a:xfrm>
          <a:prstGeom prst="rect">
            <a:avLst/>
          </a:prstGeom>
          <a:solidFill>
            <a:srgbClr val="061226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4846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746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1828800" y="4846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IAM &amp; scans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828800" y="53035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country-scoped groups, policies, VSS recipes, targets.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120640" y="4709160"/>
            <a:ext cx="4114800" cy="1234440"/>
          </a:xfrm>
          <a:prstGeom prst="rect">
            <a:avLst/>
          </a:prstGeom>
          <a:solidFill>
            <a:srgbClr val="061226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03520" y="4846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746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6217920" y="4846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with one country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217920" y="53035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separation before rolling to the rest.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731520" y="5943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2B7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31520" y="6355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walk through the design for your specific country list.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Country-wise Security Vulnerability Separation in OCI</dc:title>
  <dc:subject>PptxGenJS Presentation</dc:subject>
  <dc:creator>Cloud Security Practice</dc:creator>
  <cp:lastModifiedBy>Cloud Security Practice</cp:lastModifiedBy>
  <cp:revision>1</cp:revision>
  <dcterms:created xsi:type="dcterms:W3CDTF">2026-04-24T09:19:35Z</dcterms:created>
  <dcterms:modified xsi:type="dcterms:W3CDTF">2026-04-24T09:19:35Z</dcterms:modified>
</cp:coreProperties>
</file>